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57" r:id="rId3"/>
    <p:sldId id="278"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Lst>
  <p:sldSz cx="9144000" cy="5143500" type="screen16x9"/>
  <p:notesSz cx="6858000" cy="9144000"/>
  <p:embeddedFontLst>
    <p:embeddedFont>
      <p:font typeface="Lato" panose="020F0502020204030203" pitchFamily="34" charset="0"/>
      <p:regular r:id="rId25"/>
      <p:bold r:id="rId26"/>
      <p:italic r:id="rId27"/>
      <p:boldItalic r:id="rId28"/>
    </p:embeddedFont>
    <p:embeddedFont>
      <p:font typeface="Raleway"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300" y="8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baf2bf08d5_0_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af2bf08d5_0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baf2bf08d5_0_3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baf2bf08d5_0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baf2bf08d5_0_3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baf2bf08d5_0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baf2bf08d5_0_3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baf2bf08d5_0_3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baf2bf08d5_0_3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baf2bf08d5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baf2bf08d5_0_3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baf2bf08d5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baf2bf08d5_0_3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baf2bf08d5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baf3e791ba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baf3e791b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baf3e791ba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baf3e791b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baf3e791b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baf3e791b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baf3e791ba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baf3e791ba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af3e791ba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af3e791ba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af3e791ba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af3e791ba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af3e791ba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af3e791ba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baf3e791ba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baf3e791ba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baf3e791ba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baf3e791ba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baf3e791ba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baf3e791ba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baf3e791ba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baf3e791ba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baf3e791ba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baf3e791ba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baf3e791ba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baf3e791ba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Machine Learning Study of Antibacterial Drugs vs Bacterial Metabolic Networks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body" idx="1"/>
          </p:nvPr>
        </p:nvSpPr>
        <p:spPr>
          <a:xfrm>
            <a:off x="182800" y="1295275"/>
            <a:ext cx="8801400" cy="3708600"/>
          </a:xfrm>
          <a:prstGeom prst="rect">
            <a:avLst/>
          </a:prstGeom>
        </p:spPr>
        <p:txBody>
          <a:bodyPr spcFirstLastPara="1" wrap="square" lIns="91425" tIns="91425" rIns="91425" bIns="91425" anchor="t" anchorCtr="0">
            <a:normAutofit/>
          </a:bodyPr>
          <a:lstStyle/>
          <a:p>
            <a:pPr marL="457200" lvl="0" indent="-361950" algn="l" rtl="0">
              <a:lnSpc>
                <a:spcPct val="100000"/>
              </a:lnSpc>
              <a:spcBef>
                <a:spcPts val="0"/>
              </a:spcBef>
              <a:spcAft>
                <a:spcPts val="0"/>
              </a:spcAft>
              <a:buSzPts val="2100"/>
              <a:buChar char="●"/>
            </a:pPr>
            <a:r>
              <a:rPr lang="en" sz="2100"/>
              <a:t>This project investigates how antibacterial drugs interact with bacterial metabolic systems rather than acting in isolation.</a:t>
            </a:r>
            <a:endParaRPr sz="2100"/>
          </a:p>
          <a:p>
            <a:pPr marL="457200" lvl="0" indent="-361950" algn="l" rtl="0">
              <a:lnSpc>
                <a:spcPct val="100000"/>
              </a:lnSpc>
              <a:spcBef>
                <a:spcPts val="0"/>
              </a:spcBef>
              <a:spcAft>
                <a:spcPts val="0"/>
              </a:spcAft>
              <a:buSzPts val="2100"/>
              <a:buChar char="●"/>
            </a:pPr>
            <a:r>
              <a:rPr lang="en" sz="2100"/>
              <a:t>The study is grounded in biological evidence that antibiotic action and resistance are closely linked to cellular metabolism.</a:t>
            </a:r>
            <a:endParaRPr sz="2100"/>
          </a:p>
          <a:p>
            <a:pPr marL="457200" lvl="0" indent="-361950" algn="l" rtl="0">
              <a:lnSpc>
                <a:spcPct val="100000"/>
              </a:lnSpc>
              <a:spcBef>
                <a:spcPts val="0"/>
              </a:spcBef>
              <a:spcAft>
                <a:spcPts val="0"/>
              </a:spcAft>
              <a:buSzPts val="2100"/>
              <a:buChar char="●"/>
            </a:pPr>
            <a:r>
              <a:rPr lang="en" sz="2100"/>
              <a:t>The central aim is to convert this biological understanding into a structured, analyzable dataset.</a:t>
            </a:r>
            <a:endParaRPr sz="2200"/>
          </a:p>
          <a:p>
            <a:pPr marL="457200" lvl="0" indent="-361950" algn="l" rtl="0">
              <a:lnSpc>
                <a:spcPct val="100000"/>
              </a:lnSpc>
              <a:spcBef>
                <a:spcPts val="0"/>
              </a:spcBef>
              <a:spcAft>
                <a:spcPts val="0"/>
              </a:spcAft>
              <a:buSzPts val="2100"/>
              <a:buChar char="●"/>
            </a:pPr>
            <a:r>
              <a:rPr lang="en" sz="2100"/>
              <a:t>This dataset later serves as the foundation for machine learning–based predictive analysis.</a:t>
            </a:r>
            <a:endParaRPr sz="2100"/>
          </a:p>
          <a:p>
            <a:pPr marL="0" lvl="0" indent="0" algn="l" rtl="0">
              <a:lnSpc>
                <a:spcPct val="100000"/>
              </a:lnSpc>
              <a:spcBef>
                <a:spcPts val="0"/>
              </a:spcBef>
              <a:spcAft>
                <a:spcPts val="0"/>
              </a:spcAft>
              <a:buNone/>
            </a:pPr>
            <a:endParaRPr sz="2100"/>
          </a:p>
          <a:p>
            <a:pPr marL="0" lvl="0" indent="0" algn="l" rtl="0">
              <a:spcBef>
                <a:spcPts val="0"/>
              </a:spcBef>
              <a:spcAft>
                <a:spcPts val="1200"/>
              </a:spcAft>
              <a:buNone/>
            </a:pPr>
            <a:endParaRPr sz="1800"/>
          </a:p>
        </p:txBody>
      </p:sp>
      <p:sp>
        <p:nvSpPr>
          <p:cNvPr id="2" name="Google Shape;97;p15">
            <a:extLst>
              <a:ext uri="{FF2B5EF4-FFF2-40B4-BE49-F238E27FC236}">
                <a16:creationId xmlns:a16="http://schemas.microsoft.com/office/drawing/2014/main" id="{395C0A1E-9E75-0601-B330-F015B6568082}"/>
              </a:ext>
            </a:extLst>
          </p:cNvPr>
          <p:cNvSpPr txBox="1">
            <a:spLocks noGrp="1"/>
          </p:cNvSpPr>
          <p:nvPr>
            <p:ph type="title"/>
          </p:nvPr>
        </p:nvSpPr>
        <p:spPr>
          <a:xfrm>
            <a:off x="408259" y="5511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IN" dirty="0"/>
              <a:t>INTRODUCTION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93AE0C6-193D-0E64-1464-DD4251853F77}"/>
              </a:ext>
            </a:extLst>
          </p:cNvPr>
          <p:cNvGraphicFramePr>
            <a:graphicFrameLocks noGrp="1"/>
          </p:cNvGraphicFramePr>
          <p:nvPr>
            <p:extLst>
              <p:ext uri="{D42A27DB-BD31-4B8C-83A1-F6EECF244321}">
                <p14:modId xmlns:p14="http://schemas.microsoft.com/office/powerpoint/2010/main" val="1427913842"/>
              </p:ext>
            </p:extLst>
          </p:nvPr>
        </p:nvGraphicFramePr>
        <p:xfrm>
          <a:off x="0" y="706274"/>
          <a:ext cx="9091335" cy="4354043"/>
        </p:xfrm>
        <a:graphic>
          <a:graphicData uri="http://schemas.openxmlformats.org/drawingml/2006/table">
            <a:tbl>
              <a:tblPr/>
              <a:tblGrid>
                <a:gridCol w="296821">
                  <a:extLst>
                    <a:ext uri="{9D8B030D-6E8A-4147-A177-3AD203B41FA5}">
                      <a16:colId xmlns:a16="http://schemas.microsoft.com/office/drawing/2014/main" val="3270664651"/>
                    </a:ext>
                  </a:extLst>
                </a:gridCol>
                <a:gridCol w="1962848">
                  <a:extLst>
                    <a:ext uri="{9D8B030D-6E8A-4147-A177-3AD203B41FA5}">
                      <a16:colId xmlns:a16="http://schemas.microsoft.com/office/drawing/2014/main" val="1757433108"/>
                    </a:ext>
                  </a:extLst>
                </a:gridCol>
                <a:gridCol w="1259095">
                  <a:extLst>
                    <a:ext uri="{9D8B030D-6E8A-4147-A177-3AD203B41FA5}">
                      <a16:colId xmlns:a16="http://schemas.microsoft.com/office/drawing/2014/main" val="2328154260"/>
                    </a:ext>
                  </a:extLst>
                </a:gridCol>
                <a:gridCol w="2949060">
                  <a:extLst>
                    <a:ext uri="{9D8B030D-6E8A-4147-A177-3AD203B41FA5}">
                      <a16:colId xmlns:a16="http://schemas.microsoft.com/office/drawing/2014/main" val="4034788950"/>
                    </a:ext>
                  </a:extLst>
                </a:gridCol>
                <a:gridCol w="2623511">
                  <a:extLst>
                    <a:ext uri="{9D8B030D-6E8A-4147-A177-3AD203B41FA5}">
                      <a16:colId xmlns:a16="http://schemas.microsoft.com/office/drawing/2014/main" val="1207740509"/>
                    </a:ext>
                  </a:extLst>
                </a:gridCol>
              </a:tblGrid>
              <a:tr h="212697">
                <a:tc>
                  <a:txBody>
                    <a:bodyPr/>
                    <a:lstStyle/>
                    <a:p>
                      <a:pPr>
                        <a:buNone/>
                      </a:pPr>
                      <a:r>
                        <a:rPr lang="en-IN" sz="500" b="1" dirty="0"/>
                        <a:t>S. No</a:t>
                      </a:r>
                      <a:endParaRPr lang="en-IN" sz="500" dirty="0"/>
                    </a:p>
                  </a:txBody>
                  <a:tcPr marL="29451" marR="29451" marT="14725" marB="14725" anchor="ctr">
                    <a:lnL>
                      <a:noFill/>
                    </a:lnL>
                    <a:lnR>
                      <a:noFill/>
                    </a:lnR>
                    <a:lnT>
                      <a:noFill/>
                    </a:lnT>
                    <a:lnB>
                      <a:noFill/>
                    </a:lnB>
                    <a:noFill/>
                  </a:tcPr>
                </a:tc>
                <a:tc>
                  <a:txBody>
                    <a:bodyPr/>
                    <a:lstStyle/>
                    <a:p>
                      <a:pPr>
                        <a:buNone/>
                      </a:pPr>
                      <a:r>
                        <a:rPr lang="en-IN" sz="500" b="1"/>
                        <a:t>Paper Title</a:t>
                      </a:r>
                      <a:endParaRPr lang="en-IN" sz="500"/>
                    </a:p>
                  </a:txBody>
                  <a:tcPr marL="29451" marR="29451" marT="14725" marB="14725" anchor="ctr">
                    <a:lnL>
                      <a:noFill/>
                    </a:lnL>
                    <a:lnR>
                      <a:noFill/>
                    </a:lnR>
                    <a:lnT>
                      <a:noFill/>
                    </a:lnT>
                    <a:lnB>
                      <a:noFill/>
                    </a:lnB>
                    <a:noFill/>
                  </a:tcPr>
                </a:tc>
                <a:tc>
                  <a:txBody>
                    <a:bodyPr/>
                    <a:lstStyle/>
                    <a:p>
                      <a:pPr>
                        <a:buNone/>
                      </a:pPr>
                      <a:r>
                        <a:rPr lang="en-IN" sz="500" b="1"/>
                        <a:t>Authors &amp; Year</a:t>
                      </a:r>
                      <a:endParaRPr lang="en-IN" sz="500"/>
                    </a:p>
                  </a:txBody>
                  <a:tcPr marL="29451" marR="29451" marT="14725" marB="14725" anchor="ctr">
                    <a:lnL>
                      <a:noFill/>
                    </a:lnL>
                    <a:lnR>
                      <a:noFill/>
                    </a:lnR>
                    <a:lnT>
                      <a:noFill/>
                    </a:lnT>
                    <a:lnB>
                      <a:noFill/>
                    </a:lnB>
                    <a:noFill/>
                  </a:tcPr>
                </a:tc>
                <a:tc>
                  <a:txBody>
                    <a:bodyPr/>
                    <a:lstStyle/>
                    <a:p>
                      <a:pPr>
                        <a:buNone/>
                      </a:pPr>
                      <a:r>
                        <a:rPr lang="en-US" sz="500" b="1"/>
                        <a:t>Core Idea of the Paper</a:t>
                      </a:r>
                      <a:endParaRPr lang="en-US" sz="500"/>
                    </a:p>
                  </a:txBody>
                  <a:tcPr marL="29451" marR="29451" marT="14725" marB="14725" anchor="ctr">
                    <a:lnL>
                      <a:noFill/>
                    </a:lnL>
                    <a:lnR>
                      <a:noFill/>
                    </a:lnR>
                    <a:lnT>
                      <a:noFill/>
                    </a:lnT>
                    <a:lnB>
                      <a:noFill/>
                    </a:lnB>
                    <a:noFill/>
                  </a:tcPr>
                </a:tc>
                <a:tc>
                  <a:txBody>
                    <a:bodyPr/>
                    <a:lstStyle/>
                    <a:p>
                      <a:pPr>
                        <a:buNone/>
                      </a:pPr>
                      <a:r>
                        <a:rPr lang="en-IN" sz="500" b="1"/>
                        <a:t>Relation to This Project</a:t>
                      </a:r>
                      <a:endParaRPr lang="en-IN" sz="500"/>
                    </a:p>
                  </a:txBody>
                  <a:tcPr marL="29451" marR="29451" marT="14725" marB="14725" anchor="ctr">
                    <a:lnL>
                      <a:noFill/>
                    </a:lnL>
                    <a:lnR>
                      <a:noFill/>
                    </a:lnR>
                    <a:lnT>
                      <a:noFill/>
                    </a:lnT>
                    <a:lnB>
                      <a:noFill/>
                    </a:lnB>
                    <a:noFill/>
                  </a:tcPr>
                </a:tc>
                <a:extLst>
                  <a:ext uri="{0D108BD9-81ED-4DB2-BD59-A6C34878D82A}">
                    <a16:rowId xmlns:a16="http://schemas.microsoft.com/office/drawing/2014/main" val="3016071743"/>
                  </a:ext>
                </a:extLst>
              </a:tr>
              <a:tr h="1613999">
                <a:tc>
                  <a:txBody>
                    <a:bodyPr/>
                    <a:lstStyle/>
                    <a:p>
                      <a:pPr>
                        <a:buNone/>
                      </a:pPr>
                      <a:r>
                        <a:rPr lang="en-IN" sz="500"/>
                        <a:t>1</a:t>
                      </a:r>
                    </a:p>
                  </a:txBody>
                  <a:tcPr marL="29451" marR="29451" marT="14725" marB="14725" anchor="ctr">
                    <a:lnL>
                      <a:noFill/>
                    </a:lnL>
                    <a:lnR>
                      <a:noFill/>
                    </a:lnR>
                    <a:lnT>
                      <a:noFill/>
                    </a:lnT>
                    <a:lnB>
                      <a:noFill/>
                    </a:lnB>
                    <a:noFill/>
                  </a:tcPr>
                </a:tc>
                <a:tc>
                  <a:txBody>
                    <a:bodyPr/>
                    <a:lstStyle/>
                    <a:p>
                      <a:pPr>
                        <a:buNone/>
                      </a:pPr>
                      <a:r>
                        <a:rPr lang="en-US" sz="500" b="1"/>
                        <a:t>The Large-Scale Organization of Metabolic Networks</a:t>
                      </a:r>
                      <a:endParaRPr lang="en-US" sz="500"/>
                    </a:p>
                  </a:txBody>
                  <a:tcPr marL="29451" marR="29451" marT="14725" marB="14725" anchor="ctr">
                    <a:lnL>
                      <a:noFill/>
                    </a:lnL>
                    <a:lnR>
                      <a:noFill/>
                    </a:lnR>
                    <a:lnT>
                      <a:noFill/>
                    </a:lnT>
                    <a:lnB>
                      <a:noFill/>
                    </a:lnB>
                    <a:noFill/>
                  </a:tcPr>
                </a:tc>
                <a:tc>
                  <a:txBody>
                    <a:bodyPr/>
                    <a:lstStyle/>
                    <a:p>
                      <a:pPr>
                        <a:buNone/>
                      </a:pPr>
                      <a:r>
                        <a:rPr lang="en-IN" sz="500" b="1"/>
                        <a:t>Albert-László Barabási et al., 2002</a:t>
                      </a:r>
                      <a:endParaRPr lang="en-IN" sz="500"/>
                    </a:p>
                  </a:txBody>
                  <a:tcPr marL="29451" marR="29451" marT="14725" marB="14725" anchor="ctr">
                    <a:lnL>
                      <a:noFill/>
                    </a:lnL>
                    <a:lnR>
                      <a:noFill/>
                    </a:lnR>
                    <a:lnT>
                      <a:noFill/>
                    </a:lnT>
                    <a:lnB>
                      <a:noFill/>
                    </a:lnB>
                    <a:noFill/>
                  </a:tcPr>
                </a:tc>
                <a:tc>
                  <a:txBody>
                    <a:bodyPr/>
                    <a:lstStyle/>
                    <a:p>
                      <a:pPr>
                        <a:buNone/>
                      </a:pPr>
                      <a:r>
                        <a:rPr lang="en-US" sz="500"/>
                        <a:t>This paper introduced the concept that metabolic systems can be represented as complex networks. Metabolites are nodes, and biochemical reactions form edges. The study demonstrated that metabolic networks follow scale-free and robust organizational principles.</a:t>
                      </a:r>
                    </a:p>
                  </a:txBody>
                  <a:tcPr marL="29451" marR="29451" marT="14725" marB="14725" anchor="ctr">
                    <a:lnL>
                      <a:noFill/>
                    </a:lnL>
                    <a:lnR>
                      <a:noFill/>
                    </a:lnR>
                    <a:lnT>
                      <a:noFill/>
                    </a:lnT>
                    <a:lnB>
                      <a:noFill/>
                    </a:lnB>
                    <a:noFill/>
                  </a:tcPr>
                </a:tc>
                <a:tc>
                  <a:txBody>
                    <a:bodyPr/>
                    <a:lstStyle/>
                    <a:p>
                      <a:pPr>
                        <a:buNone/>
                      </a:pPr>
                      <a:r>
                        <a:rPr lang="en-US" sz="500"/>
                        <a:t>This paper forms the </a:t>
                      </a:r>
                      <a:r>
                        <a:rPr lang="en-US" sz="500" b="1"/>
                        <a:t>biological foundation</a:t>
                      </a:r>
                      <a:r>
                        <a:rPr lang="en-US" sz="500"/>
                        <a:t> of the project. The metabolic networks used in this project are constructed using the same </a:t>
                      </a:r>
                      <a:r>
                        <a:rPr lang="en-US" sz="500" b="1"/>
                        <a:t>graph-based representation</a:t>
                      </a:r>
                      <a:r>
                        <a:rPr lang="en-US" sz="500"/>
                        <a:t> (nodes = metabolites, edges = reactions) proposed by Barabási.</a:t>
                      </a:r>
                    </a:p>
                  </a:txBody>
                  <a:tcPr marL="29451" marR="29451" marT="14725" marB="14725" anchor="ctr">
                    <a:lnL>
                      <a:noFill/>
                    </a:lnL>
                    <a:lnR>
                      <a:noFill/>
                    </a:lnR>
                    <a:lnT>
                      <a:noFill/>
                    </a:lnT>
                    <a:lnB>
                      <a:noFill/>
                    </a:lnB>
                    <a:noFill/>
                  </a:tcPr>
                </a:tc>
                <a:extLst>
                  <a:ext uri="{0D108BD9-81ED-4DB2-BD59-A6C34878D82A}">
                    <a16:rowId xmlns:a16="http://schemas.microsoft.com/office/drawing/2014/main" val="3557643927"/>
                  </a:ext>
                </a:extLst>
              </a:tr>
              <a:tr h="1351255">
                <a:tc>
                  <a:txBody>
                    <a:bodyPr/>
                    <a:lstStyle/>
                    <a:p>
                      <a:pPr>
                        <a:buNone/>
                      </a:pPr>
                      <a:r>
                        <a:rPr lang="en-IN" sz="500"/>
                        <a:t>2</a:t>
                      </a:r>
                    </a:p>
                  </a:txBody>
                  <a:tcPr marL="29451" marR="29451" marT="14725" marB="14725" anchor="ctr">
                    <a:lnL>
                      <a:noFill/>
                    </a:lnL>
                    <a:lnR>
                      <a:noFill/>
                    </a:lnR>
                    <a:lnT>
                      <a:noFill/>
                    </a:lnT>
                    <a:lnB>
                      <a:noFill/>
                    </a:lnB>
                    <a:noFill/>
                  </a:tcPr>
                </a:tc>
                <a:tc>
                  <a:txBody>
                    <a:bodyPr/>
                    <a:lstStyle/>
                    <a:p>
                      <a:pPr>
                        <a:buNone/>
                      </a:pPr>
                      <a:r>
                        <a:rPr lang="en-US" sz="500" b="1"/>
                        <a:t>Bacterial metabolism shapes antibiotic efficacy</a:t>
                      </a:r>
                      <a:endParaRPr lang="en-US" sz="500"/>
                    </a:p>
                  </a:txBody>
                  <a:tcPr marL="29451" marR="29451" marT="14725" marB="14725" anchor="ctr">
                    <a:lnL>
                      <a:noFill/>
                    </a:lnL>
                    <a:lnR>
                      <a:noFill/>
                    </a:lnR>
                    <a:lnT>
                      <a:noFill/>
                    </a:lnT>
                    <a:lnB>
                      <a:noFill/>
                    </a:lnB>
                    <a:noFill/>
                  </a:tcPr>
                </a:tc>
                <a:tc>
                  <a:txBody>
                    <a:bodyPr/>
                    <a:lstStyle/>
                    <a:p>
                      <a:pPr>
                        <a:buNone/>
                      </a:pPr>
                      <a:r>
                        <a:rPr lang="en-IN" sz="500" b="1"/>
                        <a:t>Lopatkin et al., 2019</a:t>
                      </a:r>
                      <a:endParaRPr lang="en-IN" sz="500"/>
                    </a:p>
                  </a:txBody>
                  <a:tcPr marL="29451" marR="29451" marT="14725" marB="14725" anchor="ctr">
                    <a:lnL>
                      <a:noFill/>
                    </a:lnL>
                    <a:lnR>
                      <a:noFill/>
                    </a:lnR>
                    <a:lnT>
                      <a:noFill/>
                    </a:lnT>
                    <a:lnB>
                      <a:noFill/>
                    </a:lnB>
                    <a:noFill/>
                  </a:tcPr>
                </a:tc>
                <a:tc>
                  <a:txBody>
                    <a:bodyPr/>
                    <a:lstStyle/>
                    <a:p>
                      <a:pPr>
                        <a:buNone/>
                      </a:pPr>
                      <a:r>
                        <a:rPr lang="en-US" sz="500"/>
                        <a:t>This study showed that bacterial metabolic state strongly influences antibiotic sensitivity. Antibiotics do not act only on targets but also disrupt metabolic processes such as respiration and energy production, leading to cell death or tolerance.</a:t>
                      </a:r>
                    </a:p>
                  </a:txBody>
                  <a:tcPr marL="29451" marR="29451" marT="14725" marB="14725" anchor="ctr">
                    <a:lnL>
                      <a:noFill/>
                    </a:lnL>
                    <a:lnR>
                      <a:noFill/>
                    </a:lnR>
                    <a:lnT>
                      <a:noFill/>
                    </a:lnT>
                    <a:lnB>
                      <a:noFill/>
                    </a:lnB>
                    <a:noFill/>
                  </a:tcPr>
                </a:tc>
                <a:tc>
                  <a:txBody>
                    <a:bodyPr/>
                    <a:lstStyle/>
                    <a:p>
                      <a:pPr>
                        <a:buNone/>
                      </a:pPr>
                      <a:r>
                        <a:rPr lang="en-US" sz="500"/>
                        <a:t>This paper provides the </a:t>
                      </a:r>
                      <a:r>
                        <a:rPr lang="en-US" sz="500" b="1"/>
                        <a:t>biological motivation</a:t>
                      </a:r>
                      <a:r>
                        <a:rPr lang="en-US" sz="500"/>
                        <a:t> for integrating antibacterial drug data with metabolic network data. It supports the idea that </a:t>
                      </a:r>
                      <a:r>
                        <a:rPr lang="en-US" sz="500" b="1"/>
                        <a:t>drug response depends on metabolism</a:t>
                      </a:r>
                      <a:r>
                        <a:rPr lang="en-US" sz="500"/>
                        <a:t>, which is central to this project.</a:t>
                      </a:r>
                    </a:p>
                  </a:txBody>
                  <a:tcPr marL="29451" marR="29451" marT="14725" marB="14725" anchor="ctr">
                    <a:lnL>
                      <a:noFill/>
                    </a:lnL>
                    <a:lnR>
                      <a:noFill/>
                    </a:lnR>
                    <a:lnT>
                      <a:noFill/>
                    </a:lnT>
                    <a:lnB>
                      <a:noFill/>
                    </a:lnB>
                    <a:noFill/>
                  </a:tcPr>
                </a:tc>
                <a:extLst>
                  <a:ext uri="{0D108BD9-81ED-4DB2-BD59-A6C34878D82A}">
                    <a16:rowId xmlns:a16="http://schemas.microsoft.com/office/drawing/2014/main" val="1279235816"/>
                  </a:ext>
                </a:extLst>
              </a:tr>
              <a:tr h="1176092">
                <a:tc>
                  <a:txBody>
                    <a:bodyPr/>
                    <a:lstStyle/>
                    <a:p>
                      <a:pPr>
                        <a:buNone/>
                      </a:pPr>
                      <a:r>
                        <a:rPr lang="en-IN" sz="500"/>
                        <a:t>3</a:t>
                      </a:r>
                    </a:p>
                  </a:txBody>
                  <a:tcPr marL="29451" marR="29451" marT="14725" marB="14725" anchor="ctr">
                    <a:lnL>
                      <a:noFill/>
                    </a:lnL>
                    <a:lnR>
                      <a:noFill/>
                    </a:lnR>
                    <a:lnT>
                      <a:noFill/>
                    </a:lnT>
                    <a:lnB>
                      <a:noFill/>
                    </a:lnB>
                    <a:noFill/>
                  </a:tcPr>
                </a:tc>
                <a:tc>
                  <a:txBody>
                    <a:bodyPr/>
                    <a:lstStyle/>
                    <a:p>
                      <a:pPr>
                        <a:buNone/>
                      </a:pPr>
                      <a:r>
                        <a:rPr lang="en-US" sz="500" b="1"/>
                        <a:t>ChEMBL: a large-scale bioactivity database for drug discovery</a:t>
                      </a:r>
                      <a:endParaRPr lang="en-US" sz="500"/>
                    </a:p>
                  </a:txBody>
                  <a:tcPr marL="29451" marR="29451" marT="14725" marB="14725" anchor="ctr">
                    <a:lnL>
                      <a:noFill/>
                    </a:lnL>
                    <a:lnR>
                      <a:noFill/>
                    </a:lnR>
                    <a:lnT>
                      <a:noFill/>
                    </a:lnT>
                    <a:lnB>
                      <a:noFill/>
                    </a:lnB>
                    <a:noFill/>
                  </a:tcPr>
                </a:tc>
                <a:tc>
                  <a:txBody>
                    <a:bodyPr/>
                    <a:lstStyle/>
                    <a:p>
                      <a:pPr>
                        <a:buNone/>
                      </a:pPr>
                      <a:r>
                        <a:rPr lang="en-IN" sz="500" b="1"/>
                        <a:t>Gaulton et al., 2012</a:t>
                      </a:r>
                      <a:endParaRPr lang="en-IN" sz="500"/>
                    </a:p>
                  </a:txBody>
                  <a:tcPr marL="29451" marR="29451" marT="14725" marB="14725" anchor="ctr">
                    <a:lnL>
                      <a:noFill/>
                    </a:lnL>
                    <a:lnR>
                      <a:noFill/>
                    </a:lnR>
                    <a:lnT>
                      <a:noFill/>
                    </a:lnT>
                    <a:lnB>
                      <a:noFill/>
                    </a:lnB>
                    <a:noFill/>
                  </a:tcPr>
                </a:tc>
                <a:tc>
                  <a:txBody>
                    <a:bodyPr/>
                    <a:lstStyle/>
                    <a:p>
                      <a:pPr>
                        <a:buNone/>
                      </a:pPr>
                      <a:r>
                        <a:rPr lang="en-US" sz="500"/>
                        <a:t>This paper describes the ChEMBL database, which compiles curated preclinical bioactivity data such as MIC, IC50, and MBC values for drug discovery and pharmacological analysis.</a:t>
                      </a:r>
                    </a:p>
                  </a:txBody>
                  <a:tcPr marL="29451" marR="29451" marT="14725" marB="14725" anchor="ctr">
                    <a:lnL>
                      <a:noFill/>
                    </a:lnL>
                    <a:lnR>
                      <a:noFill/>
                    </a:lnR>
                    <a:lnT>
                      <a:noFill/>
                    </a:lnT>
                    <a:lnB>
                      <a:noFill/>
                    </a:lnB>
                    <a:noFill/>
                  </a:tcPr>
                </a:tc>
                <a:tc>
                  <a:txBody>
                    <a:bodyPr/>
                    <a:lstStyle/>
                    <a:p>
                      <a:pPr>
                        <a:buNone/>
                      </a:pPr>
                      <a:r>
                        <a:rPr lang="en-US" sz="500" dirty="0"/>
                        <a:t>This paper justifies the use of </a:t>
                      </a:r>
                      <a:r>
                        <a:rPr lang="en-US" sz="500" b="1" dirty="0" err="1"/>
                        <a:t>ChEMBL</a:t>
                      </a:r>
                      <a:r>
                        <a:rPr lang="en-US" sz="500" b="1" dirty="0"/>
                        <a:t> as the antibacterial drug data source</a:t>
                      </a:r>
                      <a:r>
                        <a:rPr lang="en-US" sz="500" dirty="0"/>
                        <a:t> in this project. The dataset creation process in this project directly relies on </a:t>
                      </a:r>
                      <a:r>
                        <a:rPr lang="en-US" sz="500" dirty="0" err="1"/>
                        <a:t>ChEMBL’s</a:t>
                      </a:r>
                      <a:r>
                        <a:rPr lang="en-US" sz="500" dirty="0"/>
                        <a:t> curated assay data.</a:t>
                      </a:r>
                    </a:p>
                  </a:txBody>
                  <a:tcPr marL="29451" marR="29451" marT="14725" marB="14725" anchor="ctr">
                    <a:lnL>
                      <a:noFill/>
                    </a:lnL>
                    <a:lnR>
                      <a:noFill/>
                    </a:lnR>
                    <a:lnT>
                      <a:noFill/>
                    </a:lnT>
                    <a:lnB>
                      <a:noFill/>
                    </a:lnB>
                    <a:noFill/>
                  </a:tcPr>
                </a:tc>
                <a:extLst>
                  <a:ext uri="{0D108BD9-81ED-4DB2-BD59-A6C34878D82A}">
                    <a16:rowId xmlns:a16="http://schemas.microsoft.com/office/drawing/2014/main" val="3262165341"/>
                  </a:ext>
                </a:extLst>
              </a:tr>
            </a:tbl>
          </a:graphicData>
        </a:graphic>
      </p:graphicFrame>
      <p:sp>
        <p:nvSpPr>
          <p:cNvPr id="5" name="Google Shape;97;p15">
            <a:extLst>
              <a:ext uri="{FF2B5EF4-FFF2-40B4-BE49-F238E27FC236}">
                <a16:creationId xmlns:a16="http://schemas.microsoft.com/office/drawing/2014/main" id="{AF585BE9-2AA9-AC8D-B73B-F819BFA2615F}"/>
              </a:ext>
            </a:extLst>
          </p:cNvPr>
          <p:cNvSpPr txBox="1">
            <a:spLocks noGrp="1"/>
          </p:cNvSpPr>
          <p:nvPr>
            <p:ph type="title"/>
          </p:nvPr>
        </p:nvSpPr>
        <p:spPr>
          <a:xfrm>
            <a:off x="116225" y="8318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IN" dirty="0"/>
              <a:t>LITERATURE REVIEW</a:t>
            </a:r>
            <a:endParaRPr dirty="0"/>
          </a:p>
        </p:txBody>
      </p:sp>
    </p:spTree>
    <p:extLst>
      <p:ext uri="{BB962C8B-B14F-4D97-AF65-F5344CB8AC3E}">
        <p14:creationId xmlns:p14="http://schemas.microsoft.com/office/powerpoint/2010/main" val="1844347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173675" y="5607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BIOLOGICAL MOTIVATION</a:t>
            </a:r>
            <a:endParaRPr dirty="0"/>
          </a:p>
        </p:txBody>
      </p:sp>
      <p:sp>
        <p:nvSpPr>
          <p:cNvPr id="98" name="Google Shape;98;p15"/>
          <p:cNvSpPr txBox="1">
            <a:spLocks noGrp="1"/>
          </p:cNvSpPr>
          <p:nvPr>
            <p:ph type="body" idx="1"/>
          </p:nvPr>
        </p:nvSpPr>
        <p:spPr>
          <a:xfrm>
            <a:off x="173675" y="1295275"/>
            <a:ext cx="8184000" cy="31356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Char char="●"/>
            </a:pPr>
            <a:r>
              <a:rPr lang="en" sz="1500"/>
              <a:t>How antibiotics affect bacterial cells</a:t>
            </a:r>
            <a:endParaRPr sz="1500"/>
          </a:p>
          <a:p>
            <a:pPr marL="457200" lvl="0" indent="-323850" algn="l" rtl="0">
              <a:spcBef>
                <a:spcPts val="0"/>
              </a:spcBef>
              <a:spcAft>
                <a:spcPts val="0"/>
              </a:spcAft>
              <a:buSzPts val="1500"/>
              <a:buChar char="●"/>
            </a:pPr>
            <a:r>
              <a:rPr lang="en" sz="1500"/>
              <a:t>Antibiotics inhibit essential cellular processes such as protein synthesis, DNA replication, and cell wall biosynthesis.</a:t>
            </a:r>
            <a:endParaRPr sz="1500"/>
          </a:p>
          <a:p>
            <a:pPr marL="457200" lvl="0" indent="-323850" algn="l" rtl="0">
              <a:spcBef>
                <a:spcPts val="0"/>
              </a:spcBef>
              <a:spcAft>
                <a:spcPts val="0"/>
              </a:spcAft>
              <a:buSzPts val="1500"/>
              <a:buChar char="●"/>
            </a:pPr>
            <a:r>
              <a:rPr lang="en" sz="1500"/>
              <a:t>These processes are highly energy-dependent and tightly integrated with cellular metabolic pathways.</a:t>
            </a:r>
            <a:endParaRPr sz="1500"/>
          </a:p>
          <a:p>
            <a:pPr marL="457200" lvl="0" indent="-323850" algn="l" rtl="0">
              <a:spcBef>
                <a:spcPts val="0"/>
              </a:spcBef>
              <a:spcAft>
                <a:spcPts val="0"/>
              </a:spcAft>
              <a:buSzPts val="1500"/>
              <a:buChar char="●"/>
            </a:pPr>
            <a:r>
              <a:rPr lang="en" sz="1500"/>
              <a:t>As a consequence, antibiotic exposure disturbs ATP production, cellular respiration, and redox balance.</a:t>
            </a:r>
            <a:endParaRPr sz="1500"/>
          </a:p>
          <a:p>
            <a:pPr marL="457200" lvl="0" indent="-323850" algn="l" rtl="0">
              <a:spcBef>
                <a:spcPts val="0"/>
              </a:spcBef>
              <a:spcAft>
                <a:spcPts val="0"/>
              </a:spcAft>
              <a:buSzPts val="1500"/>
              <a:buChar char="●"/>
            </a:pPr>
            <a:r>
              <a:rPr lang="en" sz="1500"/>
              <a:t>Whether a bacterium dies or survives depends on how effectively its metabolic system can respond to these disturbances.</a:t>
            </a:r>
            <a:endParaRPr sz="1500"/>
          </a:p>
          <a:p>
            <a:pPr marL="457200" lvl="0" indent="0" algn="l" rtl="0">
              <a:spcBef>
                <a:spcPts val="1200"/>
              </a:spcBef>
              <a:spcAft>
                <a:spcPts val="1200"/>
              </a:spcAft>
              <a:buNone/>
            </a:pP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456625" y="550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METABOLIC NETWORKS (MN)</a:t>
            </a:r>
            <a:endParaRPr/>
          </a:p>
        </p:txBody>
      </p:sp>
      <p:sp>
        <p:nvSpPr>
          <p:cNvPr id="104" name="Google Shape;104;p16"/>
          <p:cNvSpPr txBox="1">
            <a:spLocks noGrp="1"/>
          </p:cNvSpPr>
          <p:nvPr>
            <p:ph type="body" idx="1"/>
          </p:nvPr>
        </p:nvSpPr>
        <p:spPr>
          <a:xfrm>
            <a:off x="192900" y="1396325"/>
            <a:ext cx="8468100" cy="3344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sz="1800"/>
              <a:t>A metabolic network is an interconnected system of biochemical reactions occurring within a cell.</a:t>
            </a:r>
            <a:endParaRPr sz="1800"/>
          </a:p>
          <a:p>
            <a:pPr marL="457200" lvl="0" indent="-342900" algn="l" rtl="0">
              <a:spcBef>
                <a:spcPts val="0"/>
              </a:spcBef>
              <a:spcAft>
                <a:spcPts val="0"/>
              </a:spcAft>
              <a:buSzPts val="1800"/>
              <a:buChar char="●"/>
            </a:pPr>
            <a:r>
              <a:rPr lang="en" sz="1800"/>
              <a:t>The output of one enzymatic reaction becomes the input substrate for subsequent reactions.</a:t>
            </a:r>
            <a:endParaRPr sz="1800"/>
          </a:p>
          <a:p>
            <a:pPr marL="457200" lvl="0" indent="-342900" algn="l" rtl="0">
              <a:spcBef>
                <a:spcPts val="0"/>
              </a:spcBef>
              <a:spcAft>
                <a:spcPts val="0"/>
              </a:spcAft>
              <a:buSzPts val="1800"/>
              <a:buChar char="●"/>
            </a:pPr>
            <a:r>
              <a:rPr lang="en" sz="1800"/>
              <a:t>These networks regulate energy generation, biosynthesis of cellular components, and stress adaptation.</a:t>
            </a:r>
            <a:endParaRPr sz="1800"/>
          </a:p>
          <a:p>
            <a:pPr marL="457200" lvl="0" indent="-342900" algn="l" rtl="0">
              <a:spcBef>
                <a:spcPts val="0"/>
              </a:spcBef>
              <a:spcAft>
                <a:spcPts val="0"/>
              </a:spcAft>
              <a:buSzPts val="1800"/>
              <a:buChar char="●"/>
            </a:pPr>
            <a:r>
              <a:rPr lang="en" sz="1800"/>
              <a:t>Bacteria operate through entire metabolic networks rather than isolated biochemical pathways.</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456625" y="611300"/>
            <a:ext cx="83154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SAME ANTIBIOTIC ACTS DIFFERENTLY</a:t>
            </a:r>
            <a:endParaRPr/>
          </a:p>
        </p:txBody>
      </p:sp>
      <p:sp>
        <p:nvSpPr>
          <p:cNvPr id="110" name="Google Shape;110;p17"/>
          <p:cNvSpPr txBox="1">
            <a:spLocks noGrp="1"/>
          </p:cNvSpPr>
          <p:nvPr>
            <p:ph type="body" idx="1"/>
          </p:nvPr>
        </p:nvSpPr>
        <p:spPr>
          <a:xfrm>
            <a:off x="243425" y="1568100"/>
            <a:ext cx="8670300" cy="33549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 sz="1900"/>
              <a:t>Core biological insight of the paper</a:t>
            </a:r>
            <a:endParaRPr sz="1900"/>
          </a:p>
          <a:p>
            <a:pPr marL="457200" lvl="0" indent="-349250" algn="l" rtl="0">
              <a:spcBef>
                <a:spcPts val="0"/>
              </a:spcBef>
              <a:spcAft>
                <a:spcPts val="0"/>
              </a:spcAft>
              <a:buSzPts val="1900"/>
              <a:buChar char="●"/>
            </a:pPr>
            <a:r>
              <a:rPr lang="en" sz="1900"/>
              <a:t>Antibiotics typically inhibit a specific enzyme or protein target.</a:t>
            </a:r>
            <a:endParaRPr sz="1900"/>
          </a:p>
          <a:p>
            <a:pPr marL="457200" lvl="0" indent="-349250" algn="l" rtl="0">
              <a:spcBef>
                <a:spcPts val="0"/>
              </a:spcBef>
              <a:spcAft>
                <a:spcPts val="0"/>
              </a:spcAft>
              <a:buSzPts val="1900"/>
              <a:buChar char="●"/>
            </a:pPr>
            <a:r>
              <a:rPr lang="en" sz="1900"/>
              <a:t>This target functions within a metabolic pathway rather than acting independently.</a:t>
            </a:r>
            <a:endParaRPr sz="1900"/>
          </a:p>
          <a:p>
            <a:pPr marL="457200" lvl="0" indent="-349250" algn="l" rtl="0">
              <a:spcBef>
                <a:spcPts val="0"/>
              </a:spcBef>
              <a:spcAft>
                <a:spcPts val="0"/>
              </a:spcAft>
              <a:buSzPts val="1900"/>
              <a:buChar char="●"/>
            </a:pPr>
            <a:r>
              <a:rPr lang="en" sz="1900"/>
              <a:t>The pathway itself is embedded within a larger metabolic network.</a:t>
            </a:r>
            <a:endParaRPr sz="1900"/>
          </a:p>
          <a:p>
            <a:pPr marL="457200" lvl="0" indent="-349250" algn="l" rtl="0">
              <a:spcBef>
                <a:spcPts val="0"/>
              </a:spcBef>
              <a:spcAft>
                <a:spcPts val="0"/>
              </a:spcAft>
              <a:buSzPts val="1900"/>
              <a:buChar char="●"/>
            </a:pPr>
            <a:r>
              <a:rPr lang="en" sz="1900"/>
              <a:t>Different bacteria possess distinct network structures and degrees of redundancy.</a:t>
            </a:r>
            <a:endParaRPr sz="1900"/>
          </a:p>
          <a:p>
            <a:pPr marL="457200" lvl="0" indent="-349250" algn="l" rtl="0">
              <a:spcBef>
                <a:spcPts val="0"/>
              </a:spcBef>
              <a:spcAft>
                <a:spcPts val="0"/>
              </a:spcAft>
              <a:buSzPts val="1900"/>
              <a:buChar char="●"/>
            </a:pPr>
            <a:r>
              <a:rPr lang="en" sz="1900"/>
              <a:t>Consequently, the same antibiotic can be lethal to one bacterium while ineffective against another.</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txBox="1">
            <a:spLocks noGrp="1"/>
          </p:cNvSpPr>
          <p:nvPr>
            <p:ph type="title"/>
          </p:nvPr>
        </p:nvSpPr>
        <p:spPr>
          <a:xfrm>
            <a:off x="416175" y="5607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METABOLIC MUTATIONS &amp; RESISTANCE</a:t>
            </a:r>
            <a:endParaRPr dirty="0"/>
          </a:p>
        </p:txBody>
      </p:sp>
      <p:sp>
        <p:nvSpPr>
          <p:cNvPr id="116" name="Google Shape;116;p18"/>
          <p:cNvSpPr txBox="1">
            <a:spLocks noGrp="1"/>
          </p:cNvSpPr>
          <p:nvPr>
            <p:ph type="body" idx="1"/>
          </p:nvPr>
        </p:nvSpPr>
        <p:spPr>
          <a:xfrm>
            <a:off x="243425" y="1355900"/>
            <a:ext cx="8629800" cy="3546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Char char="●"/>
            </a:pPr>
            <a:r>
              <a:rPr lang="en" sz="1900" dirty="0"/>
              <a:t>Beyond classical genetic resistance</a:t>
            </a:r>
            <a:endParaRPr sz="1900" dirty="0"/>
          </a:p>
          <a:p>
            <a:pPr marL="457200" lvl="0" indent="-349250" algn="l" rtl="0">
              <a:spcBef>
                <a:spcPts val="0"/>
              </a:spcBef>
              <a:spcAft>
                <a:spcPts val="0"/>
              </a:spcAft>
              <a:buSzPts val="1900"/>
              <a:buChar char="●"/>
            </a:pPr>
            <a:r>
              <a:rPr lang="en" sz="1900" dirty="0"/>
              <a:t>Antibiotic resistance is not caused solely by target-site mutations or efflux pumps.</a:t>
            </a:r>
            <a:endParaRPr sz="1900" dirty="0"/>
          </a:p>
          <a:p>
            <a:pPr marL="457200" lvl="0" indent="-349250" algn="l" rtl="0">
              <a:spcBef>
                <a:spcPts val="0"/>
              </a:spcBef>
              <a:spcAft>
                <a:spcPts val="0"/>
              </a:spcAft>
              <a:buSzPts val="1900"/>
              <a:buChar char="●"/>
            </a:pPr>
            <a:r>
              <a:rPr lang="en" sz="1900" dirty="0"/>
              <a:t>Antibiotic exposure can induce metabolic mutations and long-term metabolic adaptations.</a:t>
            </a:r>
            <a:endParaRPr sz="1900" dirty="0"/>
          </a:p>
          <a:p>
            <a:pPr marL="457200" lvl="0" indent="-349250" algn="l" rtl="0">
              <a:spcBef>
                <a:spcPts val="0"/>
              </a:spcBef>
              <a:spcAft>
                <a:spcPts val="0"/>
              </a:spcAft>
              <a:buSzPts val="1900"/>
              <a:buChar char="●"/>
            </a:pPr>
            <a:r>
              <a:rPr lang="en" sz="1900" dirty="0"/>
              <a:t>These adaptations may reduce respiration rates or redirect metabolic fluxes.</a:t>
            </a:r>
            <a:endParaRPr sz="1900" dirty="0"/>
          </a:p>
          <a:p>
            <a:pPr marL="457200" lvl="0" indent="-349250" algn="l" rtl="0">
              <a:spcBef>
                <a:spcPts val="0"/>
              </a:spcBef>
              <a:spcAft>
                <a:spcPts val="0"/>
              </a:spcAft>
              <a:buSzPts val="1900"/>
              <a:buChar char="●"/>
            </a:pPr>
            <a:r>
              <a:rPr lang="en" sz="1900" dirty="0"/>
              <a:t>Such changes enhance bacterial tolerance and survival under antibiotic pressure.</a:t>
            </a:r>
            <a:endParaRPr sz="1900" dirty="0"/>
          </a:p>
          <a:p>
            <a:pPr marL="457200" lvl="0" indent="-349250" algn="l" rtl="0">
              <a:spcBef>
                <a:spcPts val="0"/>
              </a:spcBef>
              <a:spcAft>
                <a:spcPts val="0"/>
              </a:spcAft>
              <a:buSzPts val="1900"/>
              <a:buChar char="●"/>
            </a:pPr>
            <a:r>
              <a:rPr lang="en" sz="1900" dirty="0"/>
              <a:t>This helps explain resistance even in environments with minimal antibiotic exposure.</a:t>
            </a:r>
            <a:endParaRPr sz="1900" dirty="0"/>
          </a:p>
          <a:p>
            <a:pPr marL="457200" lvl="0" indent="0" algn="l" rtl="0">
              <a:spcBef>
                <a:spcPts val="1200"/>
              </a:spcBef>
              <a:spcAft>
                <a:spcPts val="1200"/>
              </a:spcAft>
              <a:buNone/>
            </a:pPr>
            <a:endParaRPr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a:spLocks noGrp="1"/>
          </p:cNvSpPr>
          <p:nvPr>
            <p:ph type="title"/>
          </p:nvPr>
        </p:nvSpPr>
        <p:spPr>
          <a:xfrm>
            <a:off x="517250" y="5708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BIOLOGICAL PROBLEM STATEMENT</a:t>
            </a:r>
            <a:endParaRPr/>
          </a:p>
        </p:txBody>
      </p:sp>
      <p:sp>
        <p:nvSpPr>
          <p:cNvPr id="122" name="Google Shape;122;p19"/>
          <p:cNvSpPr txBox="1">
            <a:spLocks noGrp="1"/>
          </p:cNvSpPr>
          <p:nvPr>
            <p:ph type="body" idx="1"/>
          </p:nvPr>
        </p:nvSpPr>
        <p:spPr>
          <a:xfrm>
            <a:off x="243425" y="1335700"/>
            <a:ext cx="8508600" cy="350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AutoNum type="arabicPeriod"/>
            </a:pPr>
            <a:r>
              <a:rPr lang="en" sz="1600"/>
              <a:t>Large volumes of antibacterial assay data have been generated through experimental studies.</a:t>
            </a:r>
            <a:endParaRPr sz="1600"/>
          </a:p>
          <a:p>
            <a:pPr marL="457200" lvl="0" indent="-330200" algn="l" rtl="0">
              <a:spcBef>
                <a:spcPts val="0"/>
              </a:spcBef>
              <a:spcAft>
                <a:spcPts val="0"/>
              </a:spcAft>
              <a:buSzPts val="1600"/>
              <a:buAutoNum type="arabicPeriod"/>
            </a:pPr>
            <a:r>
              <a:rPr lang="en" sz="1600"/>
              <a:t>Structural metabolic network data for many bacterial species are also available.</a:t>
            </a:r>
            <a:endParaRPr sz="1600"/>
          </a:p>
          <a:p>
            <a:pPr marL="457200" lvl="0" indent="-330200" algn="l" rtl="0">
              <a:spcBef>
                <a:spcPts val="0"/>
              </a:spcBef>
              <a:spcAft>
                <a:spcPts val="0"/>
              </a:spcAft>
              <a:buSzPts val="1600"/>
              <a:buAutoNum type="arabicPeriod"/>
            </a:pPr>
            <a:r>
              <a:rPr lang="en" sz="1600"/>
              <a:t>These datasets are heterogeneous, independent, and difficult to integrate directly.</a:t>
            </a:r>
            <a:endParaRPr sz="1600"/>
          </a:p>
          <a:p>
            <a:pPr marL="457200" lvl="0" indent="-330200" algn="l" rtl="0">
              <a:spcBef>
                <a:spcPts val="0"/>
              </a:spcBef>
              <a:spcAft>
                <a:spcPts val="0"/>
              </a:spcAft>
              <a:buSzPts val="1600"/>
              <a:buAutoNum type="arabicPeriod"/>
            </a:pPr>
            <a:r>
              <a:rPr lang="en" sz="1600"/>
              <a:t>There is no straightforward framework linking drug structure to metabolic network behavior.</a:t>
            </a:r>
            <a:endParaRPr sz="1600"/>
          </a:p>
          <a:p>
            <a:pPr marL="457200" lvl="0" indent="-330200" algn="l" rtl="0">
              <a:spcBef>
                <a:spcPts val="0"/>
              </a:spcBef>
              <a:spcAft>
                <a:spcPts val="0"/>
              </a:spcAft>
              <a:buSzPts val="1600"/>
              <a:buAutoNum type="arabicPeriod"/>
            </a:pPr>
            <a:r>
              <a:rPr lang="en" sz="1600"/>
              <a:t>The project addresses how to unify these biological dimensions into a single analytical framework.</a:t>
            </a:r>
            <a:endParaRPr sz="1600"/>
          </a:p>
          <a:p>
            <a:pPr marL="457200" lvl="0" indent="0" algn="l" rtl="0">
              <a:spcBef>
                <a:spcPts val="1200"/>
              </a:spcBef>
              <a:spcAft>
                <a:spcPts val="1200"/>
              </a:spcAft>
              <a:buNone/>
            </a:pP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608175" y="570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COMPUTATIONAL APPROACH IS NEEDED</a:t>
            </a:r>
            <a:endParaRPr/>
          </a:p>
        </p:txBody>
      </p:sp>
      <p:sp>
        <p:nvSpPr>
          <p:cNvPr id="128" name="Google Shape;128;p20"/>
          <p:cNvSpPr txBox="1">
            <a:spLocks noGrp="1"/>
          </p:cNvSpPr>
          <p:nvPr>
            <p:ph type="body" idx="1"/>
          </p:nvPr>
        </p:nvSpPr>
        <p:spPr>
          <a:xfrm>
            <a:off x="192900" y="1406425"/>
            <a:ext cx="8548800" cy="34662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 sz="1700"/>
              <a:t>Need for computational modeling</a:t>
            </a:r>
            <a:endParaRPr sz="1700"/>
          </a:p>
          <a:p>
            <a:pPr marL="457200" lvl="0" indent="-336550" algn="l" rtl="0">
              <a:spcBef>
                <a:spcPts val="0"/>
              </a:spcBef>
              <a:spcAft>
                <a:spcPts val="0"/>
              </a:spcAft>
              <a:buSzPts val="1700"/>
              <a:buChar char="●"/>
            </a:pPr>
            <a:r>
              <a:rPr lang="en" sz="1700"/>
              <a:t>Exhaustive experimental testing of all drugs against all bacterial species is impractical.</a:t>
            </a:r>
            <a:endParaRPr sz="1700"/>
          </a:p>
          <a:p>
            <a:pPr marL="457200" lvl="0" indent="-336550" algn="l" rtl="0">
              <a:spcBef>
                <a:spcPts val="0"/>
              </a:spcBef>
              <a:spcAft>
                <a:spcPts val="0"/>
              </a:spcAft>
              <a:buSzPts val="1700"/>
              <a:buChar char="●"/>
            </a:pPr>
            <a:r>
              <a:rPr lang="en" sz="1700"/>
              <a:t>Drug discovery is time-consuming, costly, and resource-intensive.</a:t>
            </a:r>
            <a:endParaRPr sz="1700"/>
          </a:p>
          <a:p>
            <a:pPr marL="457200" lvl="0" indent="-336550" algn="l" rtl="0">
              <a:spcBef>
                <a:spcPts val="0"/>
              </a:spcBef>
              <a:spcAft>
                <a:spcPts val="0"/>
              </a:spcAft>
              <a:buSzPts val="1700"/>
              <a:buChar char="●"/>
            </a:pPr>
            <a:r>
              <a:rPr lang="en" sz="1700"/>
              <a:t>Computational approaches enable efficient analysis of large-scale biological datasets.</a:t>
            </a:r>
            <a:endParaRPr sz="1700"/>
          </a:p>
          <a:p>
            <a:pPr marL="457200" lvl="0" indent="-336550" algn="l" rtl="0">
              <a:spcBef>
                <a:spcPts val="0"/>
              </a:spcBef>
              <a:spcAft>
                <a:spcPts val="0"/>
              </a:spcAft>
              <a:buSzPts val="1700"/>
              <a:buChar char="●"/>
            </a:pPr>
            <a:r>
              <a:rPr lang="en" sz="1700"/>
              <a:t>Such models can uncover patterns and relationships not easily observable experimentally.</a:t>
            </a:r>
            <a:endParaRPr sz="1700"/>
          </a:p>
          <a:p>
            <a:pPr marL="457200" lvl="0" indent="-336550" algn="l" rtl="0">
              <a:spcBef>
                <a:spcPts val="0"/>
              </a:spcBef>
              <a:spcAft>
                <a:spcPts val="0"/>
              </a:spcAft>
              <a:buSzPts val="1700"/>
              <a:buChar char="●"/>
            </a:pPr>
            <a:r>
              <a:rPr lang="en" sz="1700"/>
              <a:t>This necessitates converting biological data into a digital, machine-readable format.</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507150" y="6011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 SOURCES USED</a:t>
            </a:r>
            <a:endParaRPr/>
          </a:p>
        </p:txBody>
      </p:sp>
      <p:sp>
        <p:nvSpPr>
          <p:cNvPr id="134" name="Google Shape;134;p21"/>
          <p:cNvSpPr txBox="1">
            <a:spLocks noGrp="1"/>
          </p:cNvSpPr>
          <p:nvPr>
            <p:ph type="body" idx="1"/>
          </p:nvPr>
        </p:nvSpPr>
        <p:spPr>
          <a:xfrm>
            <a:off x="182800" y="1376125"/>
            <a:ext cx="8599500" cy="35166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 sz="1600" dirty="0"/>
              <a:t>Biological data used in this study</a:t>
            </a:r>
            <a:endParaRPr sz="1600" dirty="0"/>
          </a:p>
          <a:p>
            <a:pPr marL="457200" lvl="0" indent="-330200" algn="l" rtl="0">
              <a:spcBef>
                <a:spcPts val="0"/>
              </a:spcBef>
              <a:spcAft>
                <a:spcPts val="0"/>
              </a:spcAft>
              <a:buSzPts val="1600"/>
              <a:buChar char="●"/>
            </a:pPr>
            <a:r>
              <a:rPr lang="en" sz="1600" dirty="0"/>
              <a:t>Antibacterial drug data were obtained from the ChEMBL database.</a:t>
            </a:r>
            <a:endParaRPr sz="1600" dirty="0"/>
          </a:p>
          <a:p>
            <a:pPr marL="457200" lvl="0" indent="-330200" algn="l" rtl="0">
              <a:spcBef>
                <a:spcPts val="0"/>
              </a:spcBef>
              <a:spcAft>
                <a:spcPts val="0"/>
              </a:spcAft>
              <a:buSzPts val="1600"/>
              <a:buChar char="●"/>
            </a:pPr>
            <a:r>
              <a:rPr lang="en" sz="1600" dirty="0"/>
              <a:t>ChEMBL provides curated preclinical assay data such as MIC and MBC values.</a:t>
            </a:r>
            <a:endParaRPr sz="1600" dirty="0"/>
          </a:p>
          <a:p>
            <a:pPr marL="457200" lvl="0" indent="-330200" algn="l" rtl="0">
              <a:spcBef>
                <a:spcPts val="0"/>
              </a:spcBef>
              <a:spcAft>
                <a:spcPts val="0"/>
              </a:spcAft>
              <a:buSzPts val="1600"/>
              <a:buChar char="●"/>
            </a:pPr>
            <a:r>
              <a:rPr lang="en" sz="1600" dirty="0"/>
              <a:t>Bacterial metabolic network data were obtained from Barabási’s research group.</a:t>
            </a:r>
            <a:endParaRPr sz="1600" dirty="0"/>
          </a:p>
          <a:p>
            <a:pPr marL="457200" lvl="0" indent="-330200" algn="l" rtl="0">
              <a:spcBef>
                <a:spcPts val="0"/>
              </a:spcBef>
              <a:spcAft>
                <a:spcPts val="0"/>
              </a:spcAft>
              <a:buSzPts val="1600"/>
              <a:buChar char="●"/>
            </a:pPr>
            <a:r>
              <a:rPr lang="en" sz="1600" dirty="0"/>
              <a:t>Only bacterial species common to both datasets were retained.</a:t>
            </a:r>
            <a:endParaRPr sz="1600" dirty="0"/>
          </a:p>
          <a:p>
            <a:pPr marL="457200" lvl="0" indent="-330200" algn="l" rtl="0">
              <a:spcBef>
                <a:spcPts val="0"/>
              </a:spcBef>
              <a:spcAft>
                <a:spcPts val="0"/>
              </a:spcAft>
              <a:buSzPts val="1600"/>
              <a:buChar char="●"/>
            </a:pPr>
            <a:r>
              <a:rPr lang="en" sz="1600" dirty="0"/>
              <a:t>This ensures biological and contextual consistency in the integrated dataset</a:t>
            </a:r>
            <a:endParaRPr sz="1600" dirty="0"/>
          </a:p>
          <a:p>
            <a:pPr marL="457200" lvl="0" indent="0" algn="l" rtl="0">
              <a:spcBef>
                <a:spcPts val="1200"/>
              </a:spcBef>
              <a:spcAft>
                <a:spcPts val="1200"/>
              </a:spcAft>
              <a:buNone/>
            </a:pPr>
            <a:endParaRPr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446525" y="6112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DATASET CREATION: ChEMBL DATA</a:t>
            </a:r>
            <a:endParaRPr/>
          </a:p>
        </p:txBody>
      </p:sp>
      <p:sp>
        <p:nvSpPr>
          <p:cNvPr id="140" name="Google Shape;140;p22"/>
          <p:cNvSpPr txBox="1">
            <a:spLocks noGrp="1"/>
          </p:cNvSpPr>
          <p:nvPr>
            <p:ph type="body" idx="1"/>
          </p:nvPr>
        </p:nvSpPr>
        <p:spPr>
          <a:xfrm>
            <a:off x="294950" y="1441200"/>
            <a:ext cx="7688700" cy="22611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Processing of antibacterial drug data</a:t>
            </a:r>
            <a:endParaRPr sz="1600"/>
          </a:p>
          <a:p>
            <a:pPr marL="457200" lvl="0" indent="-330200" algn="l" rtl="0">
              <a:spcBef>
                <a:spcPts val="0"/>
              </a:spcBef>
              <a:spcAft>
                <a:spcPts val="0"/>
              </a:spcAft>
              <a:buSzPts val="1600"/>
              <a:buChar char="●"/>
            </a:pPr>
            <a:r>
              <a:rPr lang="en" sz="1600"/>
              <a:t>A subset of antibacterial assays was extracted from ChEMBL based on organism relevance.</a:t>
            </a:r>
            <a:endParaRPr sz="1600"/>
          </a:p>
          <a:p>
            <a:pPr marL="457200" lvl="0" indent="-330200" algn="l" rtl="0">
              <a:spcBef>
                <a:spcPts val="0"/>
              </a:spcBef>
              <a:spcAft>
                <a:spcPts val="0"/>
              </a:spcAft>
              <a:buSzPts val="1600"/>
              <a:buChar char="●"/>
            </a:pPr>
            <a:r>
              <a:rPr lang="en" sz="1600"/>
              <a:t>Only assays with valid and measurable biological activity values were retained.</a:t>
            </a:r>
            <a:endParaRPr sz="1600"/>
          </a:p>
          <a:p>
            <a:pPr marL="457200" lvl="0" indent="-330200" algn="l" rtl="0">
              <a:spcBef>
                <a:spcPts val="0"/>
              </a:spcBef>
              <a:spcAft>
                <a:spcPts val="0"/>
              </a:spcAft>
              <a:buSzPts val="1600"/>
              <a:buChar char="●"/>
            </a:pPr>
            <a:r>
              <a:rPr lang="en" sz="1600"/>
              <a:t>Duplicate records and incomplete assay entries were removed during data curation.</a:t>
            </a:r>
            <a:endParaRPr sz="1600"/>
          </a:p>
          <a:p>
            <a:pPr marL="457200" lvl="0" indent="-330200" algn="l" rtl="0">
              <a:spcBef>
                <a:spcPts val="0"/>
              </a:spcBef>
              <a:spcAft>
                <a:spcPts val="0"/>
              </a:spcAft>
              <a:buSzPts val="1600"/>
              <a:buChar char="●"/>
            </a:pPr>
            <a:r>
              <a:rPr lang="en" sz="1600"/>
              <a:t>Non-bacterial assays and assays lacking clear organism annotation were excluded.</a:t>
            </a:r>
            <a:endParaRPr sz="1600"/>
          </a:p>
          <a:p>
            <a:pPr marL="457200" lvl="0" indent="-330200" algn="l" rtl="0">
              <a:spcBef>
                <a:spcPts val="0"/>
              </a:spcBef>
              <a:spcAft>
                <a:spcPts val="0"/>
              </a:spcAft>
              <a:buSzPts val="1600"/>
              <a:buChar char="●"/>
            </a:pPr>
            <a:r>
              <a:rPr lang="en" sz="1600"/>
              <a:t>The resulting dataset represents experimentally validated antibacterial drug–organism interactions suitable for further analysis.</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411100" y="461482"/>
            <a:ext cx="8073000" cy="616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 DATASET CREATION: METABOLIC NETWORK DATA</a:t>
            </a:r>
            <a:endParaRPr dirty="0"/>
          </a:p>
        </p:txBody>
      </p:sp>
      <p:sp>
        <p:nvSpPr>
          <p:cNvPr id="146" name="Google Shape;146;p23"/>
          <p:cNvSpPr txBox="1">
            <a:spLocks noGrp="1"/>
          </p:cNvSpPr>
          <p:nvPr>
            <p:ph type="body" idx="1"/>
          </p:nvPr>
        </p:nvSpPr>
        <p:spPr>
          <a:xfrm>
            <a:off x="143350" y="1331100"/>
            <a:ext cx="8608500" cy="31674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dirty="0"/>
              <a:t>Processing of metabolic network data</a:t>
            </a:r>
            <a:endParaRPr sz="1600" dirty="0"/>
          </a:p>
          <a:p>
            <a:pPr marL="457200" lvl="0" indent="-330200" algn="l" rtl="0">
              <a:spcBef>
                <a:spcPts val="0"/>
              </a:spcBef>
              <a:spcAft>
                <a:spcPts val="0"/>
              </a:spcAft>
              <a:buSzPts val="1600"/>
              <a:buChar char="●"/>
            </a:pPr>
            <a:r>
              <a:rPr lang="en" sz="1600" dirty="0"/>
              <a:t>Metabolic network data were constructed from KEGG biochemical pathway maps.</a:t>
            </a:r>
            <a:endParaRPr sz="1600" dirty="0"/>
          </a:p>
          <a:p>
            <a:pPr marL="457200" lvl="0" indent="-330200" algn="l" rtl="0">
              <a:spcBef>
                <a:spcPts val="0"/>
              </a:spcBef>
              <a:spcAft>
                <a:spcPts val="0"/>
              </a:spcAft>
              <a:buSzPts val="1600"/>
              <a:buChar char="●"/>
            </a:pPr>
            <a:r>
              <a:rPr lang="en" sz="1600" dirty="0"/>
              <a:t>Each metabolic network was represented mathematically as a graph.</a:t>
            </a:r>
            <a:endParaRPr sz="1600" dirty="0"/>
          </a:p>
          <a:p>
            <a:pPr marL="457200" lvl="0" indent="-330200" algn="l" rtl="0">
              <a:spcBef>
                <a:spcPts val="0"/>
              </a:spcBef>
              <a:spcAft>
                <a:spcPts val="0"/>
              </a:spcAft>
              <a:buSzPts val="1600"/>
              <a:buChar char="●"/>
            </a:pPr>
            <a:r>
              <a:rPr lang="en" sz="1600" dirty="0"/>
              <a:t>Nodes correspond to metabolites, and edges correspond to substrate–product relationships derived from biochemical reactions.</a:t>
            </a:r>
            <a:endParaRPr sz="1600" dirty="0"/>
          </a:p>
          <a:p>
            <a:pPr marL="457200" lvl="0" indent="-330200" algn="l" rtl="0">
              <a:spcBef>
                <a:spcPts val="0"/>
              </a:spcBef>
              <a:spcAft>
                <a:spcPts val="0"/>
              </a:spcAft>
              <a:buSzPts val="1600"/>
              <a:buChar char="●"/>
            </a:pPr>
            <a:r>
              <a:rPr lang="en" sz="1600" dirty="0"/>
              <a:t>Reaction direction, enzymes, and stoichiometry were ignored to focus on network structure.</a:t>
            </a:r>
            <a:endParaRPr sz="1600" dirty="0"/>
          </a:p>
          <a:p>
            <a:pPr marL="457200" lvl="0" indent="-330200" algn="l" rtl="0">
              <a:spcBef>
                <a:spcPts val="0"/>
              </a:spcBef>
              <a:spcAft>
                <a:spcPts val="0"/>
              </a:spcAft>
              <a:buSzPts val="1600"/>
              <a:buChar char="●"/>
            </a:pPr>
            <a:r>
              <a:rPr lang="en" sz="1600" dirty="0"/>
              <a:t>Currency metabolites (such as H⁺ and H₂O) were excluded to reduce artificial connectivity.</a:t>
            </a:r>
            <a:endParaRPr sz="1600" dirty="0"/>
          </a:p>
          <a:p>
            <a:pPr marL="457200" lvl="0" indent="-330200" algn="l" rtl="0">
              <a:spcBef>
                <a:spcPts val="0"/>
              </a:spcBef>
              <a:spcAft>
                <a:spcPts val="0"/>
              </a:spcAft>
              <a:buSzPts val="1600"/>
              <a:buChar char="●"/>
            </a:pPr>
            <a:r>
              <a:rPr lang="en" sz="1600" dirty="0"/>
              <a:t>This approach follows the metabolic network representation described by Jeong et al. (Barabási group).</a:t>
            </a:r>
            <a:endParaRPr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4"/>
          <p:cNvSpPr txBox="1">
            <a:spLocks noGrp="1"/>
          </p:cNvSpPr>
          <p:nvPr>
            <p:ph type="title"/>
          </p:nvPr>
        </p:nvSpPr>
        <p:spPr>
          <a:xfrm>
            <a:off x="577875" y="570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DATA FUSION CONCEPT</a:t>
            </a:r>
            <a:endParaRPr dirty="0"/>
          </a:p>
        </p:txBody>
      </p:sp>
      <p:sp>
        <p:nvSpPr>
          <p:cNvPr id="152" name="Google Shape;152;p24"/>
          <p:cNvSpPr txBox="1">
            <a:spLocks noGrp="1"/>
          </p:cNvSpPr>
          <p:nvPr>
            <p:ph type="body" idx="1"/>
          </p:nvPr>
        </p:nvSpPr>
        <p:spPr>
          <a:xfrm>
            <a:off x="183775" y="1331100"/>
            <a:ext cx="8477100" cy="3309000"/>
          </a:xfrm>
          <a:prstGeom prst="rect">
            <a:avLst/>
          </a:prstGeom>
        </p:spPr>
        <p:txBody>
          <a:bodyPr spcFirstLastPara="1" wrap="square" lIns="91425" tIns="91425" rIns="91425" bIns="91425" anchor="t" anchorCtr="0">
            <a:noAutofit/>
          </a:bodyPr>
          <a:lstStyle/>
          <a:p>
            <a:pPr marL="120650" lvl="0" indent="0" algn="l" rtl="0">
              <a:spcBef>
                <a:spcPts val="0"/>
              </a:spcBef>
              <a:spcAft>
                <a:spcPts val="0"/>
              </a:spcAft>
              <a:buSzPts val="1700"/>
              <a:buNone/>
            </a:pPr>
            <a:r>
              <a:rPr lang="en" sz="1700" b="1" dirty="0"/>
              <a:t>Why data fusion is required?</a:t>
            </a:r>
            <a:endParaRPr sz="1700" b="1" dirty="0"/>
          </a:p>
          <a:p>
            <a:pPr marL="457200" lvl="0" indent="-336550" algn="l" rtl="0">
              <a:spcBef>
                <a:spcPts val="0"/>
              </a:spcBef>
              <a:spcAft>
                <a:spcPts val="0"/>
              </a:spcAft>
              <a:buSzPts val="1700"/>
              <a:buChar char="●"/>
            </a:pPr>
            <a:r>
              <a:rPr lang="en" sz="1700" dirty="0"/>
              <a:t>Drug assay data alone describe antibacterial activity but do not explain metabolic response.</a:t>
            </a:r>
            <a:endParaRPr sz="1700" dirty="0"/>
          </a:p>
          <a:p>
            <a:pPr marL="457200" lvl="0" indent="-336550" algn="l" rtl="0">
              <a:spcBef>
                <a:spcPts val="0"/>
              </a:spcBef>
              <a:spcAft>
                <a:spcPts val="0"/>
              </a:spcAft>
              <a:buSzPts val="1700"/>
              <a:buChar char="●"/>
            </a:pPr>
            <a:r>
              <a:rPr lang="en" sz="1700" dirty="0"/>
              <a:t>Metabolic network data alone describe cellular organization but do not encode drug effects.</a:t>
            </a:r>
            <a:endParaRPr sz="1700" dirty="0"/>
          </a:p>
          <a:p>
            <a:pPr marL="457200" lvl="0" indent="-336550" algn="l" rtl="0">
              <a:spcBef>
                <a:spcPts val="0"/>
              </a:spcBef>
              <a:spcAft>
                <a:spcPts val="0"/>
              </a:spcAft>
              <a:buSzPts val="1700"/>
              <a:buChar char="●"/>
            </a:pPr>
            <a:r>
              <a:rPr lang="en" sz="1700" dirty="0"/>
              <a:t>Biological activity emerges from the interaction between drugs and metabolic systems.</a:t>
            </a:r>
            <a:endParaRPr sz="1700" dirty="0"/>
          </a:p>
          <a:p>
            <a:pPr marL="457200" lvl="0" indent="-336550" algn="l" rtl="0">
              <a:spcBef>
                <a:spcPts val="0"/>
              </a:spcBef>
              <a:spcAft>
                <a:spcPts val="0"/>
              </a:spcAft>
              <a:buSzPts val="1700"/>
              <a:buChar char="●"/>
            </a:pPr>
            <a:r>
              <a:rPr lang="en" sz="1700" dirty="0"/>
              <a:t>Data fusion integrates drug structure, assay conditions, and metabolic network context.</a:t>
            </a:r>
            <a:endParaRPr sz="1700" dirty="0"/>
          </a:p>
          <a:p>
            <a:pPr marL="457200" lvl="0" indent="-336550" algn="l" rtl="0">
              <a:spcBef>
                <a:spcPts val="0"/>
              </a:spcBef>
              <a:spcAft>
                <a:spcPts val="0"/>
              </a:spcAft>
              <a:buSzPts val="1700"/>
              <a:buChar char="●"/>
            </a:pPr>
            <a:r>
              <a:rPr lang="en" sz="1700" dirty="0"/>
              <a:t>Each fused instance represents a specific drug–bacterium–metabolic network interaction.</a:t>
            </a:r>
            <a:endParaRPr sz="1700" dirty="0"/>
          </a:p>
          <a:p>
            <a:pPr marL="457200" lvl="0" indent="0" algn="l" rtl="0">
              <a:spcBef>
                <a:spcPts val="1200"/>
              </a:spcBef>
              <a:spcAft>
                <a:spcPts val="1200"/>
              </a:spcAft>
              <a:buNone/>
            </a:pPr>
            <a:endParaRPr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598100" y="5911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INFORMATION FUSION (IF)</a:t>
            </a:r>
            <a:endParaRPr dirty="0"/>
          </a:p>
        </p:txBody>
      </p:sp>
      <p:sp>
        <p:nvSpPr>
          <p:cNvPr id="158" name="Google Shape;158;p25"/>
          <p:cNvSpPr txBox="1">
            <a:spLocks noGrp="1"/>
          </p:cNvSpPr>
          <p:nvPr>
            <p:ph type="body" idx="1"/>
          </p:nvPr>
        </p:nvSpPr>
        <p:spPr>
          <a:xfrm>
            <a:off x="455625" y="1659050"/>
            <a:ext cx="8215500" cy="3061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dirty="0"/>
              <a:t>Information Fusion combines heterogeneous biological and chemical datasets into a unified framework.</a:t>
            </a:r>
            <a:endParaRPr sz="1600" dirty="0"/>
          </a:p>
          <a:p>
            <a:pPr marL="457200" lvl="0" indent="-330200" algn="l" rtl="0">
              <a:spcBef>
                <a:spcPts val="0"/>
              </a:spcBef>
              <a:spcAft>
                <a:spcPts val="0"/>
              </a:spcAft>
              <a:buSzPts val="1600"/>
              <a:buChar char="●"/>
            </a:pPr>
            <a:r>
              <a:rPr lang="en" sz="1600" dirty="0"/>
              <a:t>Drug molecular descriptors are combined with metabolic network structural descriptors.</a:t>
            </a:r>
            <a:endParaRPr sz="1600" dirty="0"/>
          </a:p>
          <a:p>
            <a:pPr marL="457200" lvl="0" indent="-330200" algn="l" rtl="0">
              <a:spcBef>
                <a:spcPts val="0"/>
              </a:spcBef>
              <a:spcAft>
                <a:spcPts val="0"/>
              </a:spcAft>
              <a:buSzPts val="1600"/>
              <a:buChar char="●"/>
            </a:pPr>
            <a:r>
              <a:rPr lang="en" sz="1600" dirty="0"/>
              <a:t>Experimental assay conditions are incorporated as contextual variables.</a:t>
            </a:r>
            <a:endParaRPr sz="1600" dirty="0"/>
          </a:p>
          <a:p>
            <a:pPr marL="457200" lvl="0" indent="-330200" algn="l" rtl="0">
              <a:spcBef>
                <a:spcPts val="0"/>
              </a:spcBef>
              <a:spcAft>
                <a:spcPts val="0"/>
              </a:spcAft>
              <a:buSzPts val="1600"/>
              <a:buChar char="●"/>
            </a:pPr>
            <a:r>
              <a:rPr lang="en" sz="1600" dirty="0"/>
              <a:t>All heterogeneous values are transformed into dimensionless numerical representations.</a:t>
            </a:r>
            <a:endParaRPr sz="1600" dirty="0"/>
          </a:p>
          <a:p>
            <a:pPr marL="457200" lvl="0" indent="-330200" algn="l" rtl="0">
              <a:spcBef>
                <a:spcPts val="0"/>
              </a:spcBef>
              <a:spcAft>
                <a:spcPts val="0"/>
              </a:spcAft>
              <a:buSzPts val="1600"/>
              <a:buChar char="●"/>
            </a:pPr>
            <a:r>
              <a:rPr lang="en" sz="1600" dirty="0"/>
              <a:t>This enables biological systems to be analyzed using computational and machine learning techniques.</a:t>
            </a:r>
            <a:endParaRPr sz="1600" dirty="0"/>
          </a:p>
          <a:p>
            <a:pPr marL="0" lvl="0" indent="0" algn="l" rtl="0">
              <a:spcBef>
                <a:spcPts val="1200"/>
              </a:spcBef>
              <a:spcAft>
                <a:spcPts val="1200"/>
              </a:spcAft>
              <a:buNone/>
            </a:pPr>
            <a:endParaRPr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xfrm>
            <a:off x="344475" y="557600"/>
            <a:ext cx="8073600" cy="616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 MOLECULAR DESCRIPTORS (DRUG SIDE)</a:t>
            </a:r>
            <a:endParaRPr dirty="0"/>
          </a:p>
        </p:txBody>
      </p:sp>
      <p:sp>
        <p:nvSpPr>
          <p:cNvPr id="164" name="Google Shape;164;p26"/>
          <p:cNvSpPr txBox="1">
            <a:spLocks noGrp="1"/>
          </p:cNvSpPr>
          <p:nvPr>
            <p:ph type="body" idx="1"/>
          </p:nvPr>
        </p:nvSpPr>
        <p:spPr>
          <a:xfrm>
            <a:off x="283850" y="1315475"/>
            <a:ext cx="8579100" cy="3657900"/>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SzPts val="1700"/>
              <a:buChar char="●"/>
            </a:pPr>
            <a:r>
              <a:rPr lang="en" sz="1700" dirty="0"/>
              <a:t>Encoding drug structure digitally</a:t>
            </a:r>
            <a:endParaRPr sz="1700" dirty="0"/>
          </a:p>
          <a:p>
            <a:pPr marL="457200" lvl="0" indent="-336550" algn="l" rtl="0">
              <a:spcBef>
                <a:spcPts val="0"/>
              </a:spcBef>
              <a:spcAft>
                <a:spcPts val="0"/>
              </a:spcAft>
              <a:buSzPts val="1700"/>
              <a:buChar char="●"/>
            </a:pPr>
            <a:r>
              <a:rPr lang="en" sz="1700" dirty="0"/>
              <a:t>Drug molecules are encoded using atom-based linear molecular descriptors.</a:t>
            </a:r>
            <a:endParaRPr sz="1700" dirty="0"/>
          </a:p>
          <a:p>
            <a:pPr marL="457200" lvl="0" indent="-336550" algn="l" rtl="0">
              <a:spcBef>
                <a:spcPts val="0"/>
              </a:spcBef>
              <a:spcAft>
                <a:spcPts val="0"/>
              </a:spcAft>
              <a:buSzPts val="1700"/>
              <a:buChar char="●"/>
            </a:pPr>
            <a:r>
              <a:rPr lang="en" sz="1700" dirty="0"/>
              <a:t>Physicochemical properties such as LogP, electronegativity, and van der Waals volume are considered.</a:t>
            </a:r>
            <a:endParaRPr sz="1700" dirty="0"/>
          </a:p>
          <a:p>
            <a:pPr marL="457200" lvl="0" indent="-336550" algn="l" rtl="0">
              <a:spcBef>
                <a:spcPts val="0"/>
              </a:spcBef>
              <a:spcAft>
                <a:spcPts val="0"/>
              </a:spcAft>
              <a:buSzPts val="1700"/>
              <a:buChar char="●"/>
            </a:pPr>
            <a:r>
              <a:rPr lang="en" sz="1700" dirty="0"/>
              <a:t>Atoms are grouped according to chemical behavior, including:</a:t>
            </a:r>
            <a:endParaRPr sz="1700" dirty="0"/>
          </a:p>
          <a:p>
            <a:pPr marL="457200" lvl="0" indent="-336550" algn="l" rtl="0">
              <a:spcBef>
                <a:spcPts val="0"/>
              </a:spcBef>
              <a:spcAft>
                <a:spcPts val="0"/>
              </a:spcAft>
              <a:buSzPts val="1700"/>
              <a:buChar char="●"/>
            </a:pPr>
            <a:r>
              <a:rPr lang="en" sz="1700" dirty="0"/>
              <a:t>hydrogen bond donors,</a:t>
            </a:r>
            <a:endParaRPr sz="1700" dirty="0"/>
          </a:p>
          <a:p>
            <a:pPr marL="457200" lvl="0" indent="-336550" algn="l" rtl="0">
              <a:spcBef>
                <a:spcPts val="0"/>
              </a:spcBef>
              <a:spcAft>
                <a:spcPts val="0"/>
              </a:spcAft>
              <a:buSzPts val="1700"/>
              <a:buChar char="●"/>
            </a:pPr>
            <a:r>
              <a:rPr lang="en" sz="1700" dirty="0"/>
              <a:t>hydrogen bond acceptors,</a:t>
            </a:r>
            <a:endParaRPr sz="1700" dirty="0"/>
          </a:p>
          <a:p>
            <a:pPr marL="457200" lvl="0" indent="-336550" algn="l" rtl="0">
              <a:spcBef>
                <a:spcPts val="0"/>
              </a:spcBef>
              <a:spcAft>
                <a:spcPts val="0"/>
              </a:spcAft>
              <a:buSzPts val="1700"/>
              <a:buChar char="●"/>
            </a:pPr>
            <a:r>
              <a:rPr lang="en" sz="1700" dirty="0"/>
              <a:t>aliphatic and aromatic carbons,</a:t>
            </a:r>
            <a:endParaRPr sz="1700" dirty="0"/>
          </a:p>
          <a:p>
            <a:pPr marL="457200" lvl="0" indent="-336550" algn="l" rtl="0">
              <a:spcBef>
                <a:spcPts val="0"/>
              </a:spcBef>
              <a:spcAft>
                <a:spcPts val="0"/>
              </a:spcAft>
              <a:buSzPts val="1700"/>
              <a:buChar char="●"/>
            </a:pPr>
            <a:r>
              <a:rPr lang="en" sz="1700" dirty="0"/>
              <a:t>heteroatoms.</a:t>
            </a:r>
            <a:endParaRPr sz="1700" dirty="0"/>
          </a:p>
          <a:p>
            <a:pPr marL="457200" lvl="0" indent="-336550" algn="l" rtl="0">
              <a:spcBef>
                <a:spcPts val="0"/>
              </a:spcBef>
              <a:spcAft>
                <a:spcPts val="0"/>
              </a:spcAft>
              <a:buSzPts val="1700"/>
              <a:buChar char="●"/>
            </a:pPr>
            <a:r>
              <a:rPr lang="en" sz="1700" dirty="0"/>
              <a:t>These descriptors capture chemically and biologically relevant features of antibacterial compounds.</a:t>
            </a:r>
            <a:endParaRPr sz="1700" dirty="0"/>
          </a:p>
          <a:p>
            <a:pPr marL="457200" lvl="0" indent="-336550" algn="l" rtl="0">
              <a:spcBef>
                <a:spcPts val="0"/>
              </a:spcBef>
              <a:spcAft>
                <a:spcPts val="0"/>
              </a:spcAft>
              <a:buSzPts val="1700"/>
              <a:buChar char="●"/>
            </a:pPr>
            <a:endParaRPr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7"/>
          <p:cNvSpPr txBox="1">
            <a:spLocks noGrp="1"/>
          </p:cNvSpPr>
          <p:nvPr>
            <p:ph type="title"/>
          </p:nvPr>
        </p:nvSpPr>
        <p:spPr>
          <a:xfrm>
            <a:off x="587975" y="6416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FORMULA: LINEAR ATOM-BASED INDEX</a:t>
            </a:r>
            <a:endParaRPr/>
          </a:p>
        </p:txBody>
      </p:sp>
      <p:sp>
        <p:nvSpPr>
          <p:cNvPr id="170" name="Google Shape;170;p27"/>
          <p:cNvSpPr txBox="1">
            <a:spLocks noGrp="1"/>
          </p:cNvSpPr>
          <p:nvPr>
            <p:ph type="body" idx="1"/>
          </p:nvPr>
        </p:nvSpPr>
        <p:spPr>
          <a:xfrm>
            <a:off x="192900" y="1325600"/>
            <a:ext cx="8599500" cy="35973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AutoNum type="arabicPeriod"/>
            </a:pPr>
            <a:r>
              <a:rPr lang="en" sz="1700" dirty="0"/>
              <a:t>Conversion of chemical structure into numerical form</a:t>
            </a:r>
            <a:endParaRPr sz="1700" dirty="0"/>
          </a:p>
          <a:p>
            <a:pPr marL="457200" lvl="0" indent="-336550" algn="l" rtl="0">
              <a:spcBef>
                <a:spcPts val="0"/>
              </a:spcBef>
              <a:spcAft>
                <a:spcPts val="0"/>
              </a:spcAft>
              <a:buSzPts val="1700"/>
              <a:buAutoNum type="arabicPeriod"/>
            </a:pPr>
            <a:r>
              <a:rPr lang="en" sz="1700" dirty="0"/>
              <a:t>Each molecule is treated as a mathematical graph.</a:t>
            </a:r>
            <a:endParaRPr sz="1700" dirty="0"/>
          </a:p>
          <a:p>
            <a:pPr marL="457200" lvl="0" indent="-336550" algn="l" rtl="0">
              <a:spcBef>
                <a:spcPts val="0"/>
              </a:spcBef>
              <a:spcAft>
                <a:spcPts val="0"/>
              </a:spcAft>
              <a:buSzPts val="1700"/>
              <a:buAutoNum type="arabicPeriod"/>
            </a:pPr>
            <a:r>
              <a:rPr lang="en" sz="1700" dirty="0"/>
              <a:t>Physicochemical weights are assigned to individual atoms.</a:t>
            </a:r>
            <a:endParaRPr sz="1700" dirty="0"/>
          </a:p>
          <a:p>
            <a:pPr marL="457200" lvl="0" indent="-336550" algn="l" rtl="0">
              <a:spcBef>
                <a:spcPts val="0"/>
              </a:spcBef>
              <a:spcAft>
                <a:spcPts val="0"/>
              </a:spcAft>
              <a:buSzPts val="1700"/>
              <a:buAutoNum type="arabicPeriod"/>
            </a:pPr>
            <a:r>
              <a:rPr lang="en" sz="1700" dirty="0"/>
              <a:t>The Manhattan norm is used to compute linear molecular indices.</a:t>
            </a:r>
            <a:endParaRPr sz="1700" dirty="0"/>
          </a:p>
          <a:p>
            <a:pPr marL="457200" lvl="0" indent="-336550" algn="l" rtl="0">
              <a:spcBef>
                <a:spcPts val="0"/>
              </a:spcBef>
              <a:spcAft>
                <a:spcPts val="0"/>
              </a:spcAft>
              <a:buSzPts val="1700"/>
              <a:buAutoNum type="arabicPeriod"/>
            </a:pPr>
            <a:r>
              <a:rPr lang="en" sz="1700" dirty="0"/>
              <a:t>This step converts chemical structure into a digital format suitable for modeling</a:t>
            </a:r>
            <a:endParaRPr sz="1700" dirty="0"/>
          </a:p>
          <a:p>
            <a:pPr marL="0" lvl="0" indent="0" algn="l" rtl="0">
              <a:spcBef>
                <a:spcPts val="1200"/>
              </a:spcBef>
              <a:spcAft>
                <a:spcPts val="1200"/>
              </a:spcAft>
              <a:buNone/>
            </a:pPr>
            <a:endParaRPr sz="1700" dirty="0"/>
          </a:p>
        </p:txBody>
      </p:sp>
      <p:pic>
        <p:nvPicPr>
          <p:cNvPr id="171" name="Google Shape;171;p27"/>
          <p:cNvPicPr preferRelativeResize="0"/>
          <p:nvPr/>
        </p:nvPicPr>
        <p:blipFill>
          <a:blip r:embed="rId3">
            <a:alphaModFix/>
          </a:blip>
          <a:stretch>
            <a:fillRect/>
          </a:stretch>
        </p:blipFill>
        <p:spPr>
          <a:xfrm>
            <a:off x="2256838" y="3109675"/>
            <a:ext cx="5438775" cy="1752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8"/>
          <p:cNvSpPr txBox="1">
            <a:spLocks noGrp="1"/>
          </p:cNvSpPr>
          <p:nvPr>
            <p:ph type="title"/>
          </p:nvPr>
        </p:nvSpPr>
        <p:spPr>
          <a:xfrm>
            <a:off x="355550" y="6315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PERTURBATION THEORY (PT)</a:t>
            </a:r>
            <a:endParaRPr/>
          </a:p>
        </p:txBody>
      </p:sp>
      <p:sp>
        <p:nvSpPr>
          <p:cNvPr id="177" name="Google Shape;177;p28"/>
          <p:cNvSpPr txBox="1">
            <a:spLocks noGrp="1"/>
          </p:cNvSpPr>
          <p:nvPr>
            <p:ph type="body" idx="1"/>
          </p:nvPr>
        </p:nvSpPr>
        <p:spPr>
          <a:xfrm>
            <a:off x="355550" y="1345800"/>
            <a:ext cx="8062500" cy="2994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dirty="0"/>
              <a:t>Why perturbation theory is applied</a:t>
            </a:r>
            <a:endParaRPr sz="1800" dirty="0"/>
          </a:p>
          <a:p>
            <a:pPr marL="457200" lvl="0" indent="-342900" algn="l" rtl="0">
              <a:spcBef>
                <a:spcPts val="0"/>
              </a:spcBef>
              <a:spcAft>
                <a:spcPts val="0"/>
              </a:spcAft>
              <a:buSzPts val="1800"/>
              <a:buChar char="●"/>
            </a:pPr>
            <a:r>
              <a:rPr lang="en" sz="1800" dirty="0"/>
              <a:t>Biological systems do not behave uniformly across experimental conditions.</a:t>
            </a:r>
            <a:endParaRPr sz="1800" dirty="0"/>
          </a:p>
          <a:p>
            <a:pPr marL="457200" lvl="0" indent="-342900" algn="l" rtl="0">
              <a:spcBef>
                <a:spcPts val="0"/>
              </a:spcBef>
              <a:spcAft>
                <a:spcPts val="0"/>
              </a:spcAft>
              <a:buSzPts val="1800"/>
              <a:buChar char="●"/>
            </a:pPr>
            <a:r>
              <a:rPr lang="en" sz="1800" dirty="0"/>
              <a:t>Drugs and bacterial metabolic networks deviate from average reference behavior.</a:t>
            </a:r>
            <a:endParaRPr sz="1800" dirty="0"/>
          </a:p>
          <a:p>
            <a:pPr marL="457200" lvl="0" indent="-342900" algn="l" rtl="0">
              <a:spcBef>
                <a:spcPts val="0"/>
              </a:spcBef>
              <a:spcAft>
                <a:spcPts val="0"/>
              </a:spcAft>
              <a:buSzPts val="1800"/>
              <a:buChar char="●"/>
            </a:pPr>
            <a:r>
              <a:rPr lang="en" sz="1800" dirty="0"/>
              <a:t>Perturbation theory quantifies these deviations in a systematic manner.</a:t>
            </a:r>
            <a:endParaRPr sz="1800" dirty="0"/>
          </a:p>
          <a:p>
            <a:pPr marL="457200" lvl="0" indent="-342900" algn="l" rtl="0">
              <a:spcBef>
                <a:spcPts val="0"/>
              </a:spcBef>
              <a:spcAft>
                <a:spcPts val="0"/>
              </a:spcAft>
              <a:buSzPts val="1800"/>
              <a:buChar char="●"/>
            </a:pPr>
            <a:r>
              <a:rPr lang="en" sz="1800" dirty="0"/>
              <a:t>It captures differences in drug structure and metabolic network organization.</a:t>
            </a:r>
            <a:endParaRPr sz="1800" dirty="0"/>
          </a:p>
          <a:p>
            <a:pPr marL="457200" lvl="0" indent="-342900" algn="l" rtl="0">
              <a:spcBef>
                <a:spcPts val="0"/>
              </a:spcBef>
              <a:spcAft>
                <a:spcPts val="0"/>
              </a:spcAft>
              <a:buSzPts val="1800"/>
              <a:buChar char="●"/>
            </a:pPr>
            <a:r>
              <a:rPr lang="en" sz="1800" dirty="0"/>
              <a:t>This enhances biological realism in the integrated dataset.</a:t>
            </a:r>
            <a:endParaRPr sz="1800" dirty="0"/>
          </a:p>
          <a:p>
            <a:pPr marL="457200" lvl="0" indent="0" algn="l" rtl="0">
              <a:spcBef>
                <a:spcPts val="1200"/>
              </a:spcBef>
              <a:spcAft>
                <a:spcPts val="1200"/>
              </a:spcAft>
              <a:buNone/>
            </a:pPr>
            <a:endParaRPr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txBox="1">
            <a:spLocks noGrp="1"/>
          </p:cNvSpPr>
          <p:nvPr>
            <p:ph type="title"/>
          </p:nvPr>
        </p:nvSpPr>
        <p:spPr>
          <a:xfrm>
            <a:off x="263625" y="611275"/>
            <a:ext cx="83772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PERTURBATION FORMULAE</a:t>
            </a:r>
            <a:endParaRPr/>
          </a:p>
        </p:txBody>
      </p:sp>
      <p:sp>
        <p:nvSpPr>
          <p:cNvPr id="183" name="Google Shape;183;p29"/>
          <p:cNvSpPr txBox="1">
            <a:spLocks noGrp="1"/>
          </p:cNvSpPr>
          <p:nvPr>
            <p:ph type="body" idx="1"/>
          </p:nvPr>
        </p:nvSpPr>
        <p:spPr>
          <a:xfrm>
            <a:off x="304050" y="1537800"/>
            <a:ext cx="8114100" cy="28023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 sz="1600" dirty="0"/>
              <a:t>The first equation represents perturbations in drug molecular structure.</a:t>
            </a:r>
            <a:endParaRPr sz="1600" dirty="0"/>
          </a:p>
          <a:p>
            <a:pPr marL="457200" lvl="0" indent="-330200" algn="l" rtl="0">
              <a:spcBef>
                <a:spcPts val="0"/>
              </a:spcBef>
              <a:spcAft>
                <a:spcPts val="0"/>
              </a:spcAft>
              <a:buSzPts val="1600"/>
              <a:buChar char="●"/>
            </a:pPr>
            <a:r>
              <a:rPr lang="en" sz="1600" dirty="0"/>
              <a:t>The second equation represents perturbations in metabolic network structure.</a:t>
            </a:r>
            <a:endParaRPr sz="1600" dirty="0"/>
          </a:p>
          <a:p>
            <a:pPr marL="457200" lvl="0" indent="-330200" algn="l" rtl="0">
              <a:spcBef>
                <a:spcPts val="0"/>
              </a:spcBef>
              <a:spcAft>
                <a:spcPts val="0"/>
              </a:spcAft>
              <a:buSzPts val="1600"/>
              <a:buChar char="●"/>
            </a:pPr>
            <a:r>
              <a:rPr lang="en" sz="1600" dirty="0"/>
              <a:t>Both are calculated relative to assay-specific reference averages.</a:t>
            </a:r>
            <a:endParaRPr sz="1600" dirty="0"/>
          </a:p>
          <a:p>
            <a:pPr marL="457200" lvl="0" indent="0" algn="l" rtl="0">
              <a:spcBef>
                <a:spcPts val="1200"/>
              </a:spcBef>
              <a:spcAft>
                <a:spcPts val="1200"/>
              </a:spcAft>
              <a:buNone/>
            </a:pPr>
            <a:endParaRPr sz="1600" dirty="0"/>
          </a:p>
        </p:txBody>
      </p:sp>
      <p:pic>
        <p:nvPicPr>
          <p:cNvPr id="184" name="Google Shape;184;p29"/>
          <p:cNvPicPr preferRelativeResize="0"/>
          <p:nvPr/>
        </p:nvPicPr>
        <p:blipFill>
          <a:blip r:embed="rId3">
            <a:alphaModFix/>
          </a:blip>
          <a:stretch>
            <a:fillRect/>
          </a:stretch>
        </p:blipFill>
        <p:spPr>
          <a:xfrm>
            <a:off x="1915675" y="2790826"/>
            <a:ext cx="5386025" cy="1549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628375" y="6315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COMPLETE WORKFLOW (FLOWCHART)</a:t>
            </a:r>
            <a:endParaRPr/>
          </a:p>
        </p:txBody>
      </p:sp>
      <p:sp>
        <p:nvSpPr>
          <p:cNvPr id="190" name="Google Shape;190;p30"/>
          <p:cNvSpPr txBox="1">
            <a:spLocks noGrp="1"/>
          </p:cNvSpPr>
          <p:nvPr>
            <p:ph type="body" idx="1"/>
          </p:nvPr>
        </p:nvSpPr>
        <p:spPr>
          <a:xfrm>
            <a:off x="253525" y="1406425"/>
            <a:ext cx="8568900" cy="33075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SzPts val="1500"/>
              <a:buChar char="●"/>
            </a:pPr>
            <a:r>
              <a:rPr lang="en" sz="1500"/>
              <a:t>Overall workflow of the study</a:t>
            </a:r>
            <a:endParaRPr sz="1500"/>
          </a:p>
          <a:p>
            <a:pPr marL="457200" lvl="0" indent="-323850" algn="l" rtl="0">
              <a:spcBef>
                <a:spcPts val="0"/>
              </a:spcBef>
              <a:spcAft>
                <a:spcPts val="0"/>
              </a:spcAft>
              <a:buSzPts val="1500"/>
              <a:buChar char="●"/>
            </a:pPr>
            <a:r>
              <a:rPr lang="en" sz="1500"/>
              <a:t>Biological motivation guides dataset selection.</a:t>
            </a:r>
            <a:endParaRPr sz="1500"/>
          </a:p>
          <a:p>
            <a:pPr marL="457200" lvl="0" indent="-323850" algn="l" rtl="0">
              <a:spcBef>
                <a:spcPts val="0"/>
              </a:spcBef>
              <a:spcAft>
                <a:spcPts val="0"/>
              </a:spcAft>
              <a:buSzPts val="1500"/>
              <a:buChar char="●"/>
            </a:pPr>
            <a:r>
              <a:rPr lang="en" sz="1500"/>
              <a:t>Antibacterial drug data are curated from ChEMBL.</a:t>
            </a:r>
            <a:endParaRPr sz="1500"/>
          </a:p>
          <a:p>
            <a:pPr marL="457200" lvl="0" indent="-323850" algn="l" rtl="0">
              <a:spcBef>
                <a:spcPts val="0"/>
              </a:spcBef>
              <a:spcAft>
                <a:spcPts val="0"/>
              </a:spcAft>
              <a:buSzPts val="1500"/>
              <a:buChar char="●"/>
            </a:pPr>
            <a:r>
              <a:rPr lang="en" sz="1500"/>
              <a:t>Metabolic network data are constructed from KEGG pathway reactions.</a:t>
            </a:r>
            <a:endParaRPr sz="1500"/>
          </a:p>
          <a:p>
            <a:pPr marL="457200" lvl="0" indent="-323850" algn="l" rtl="0">
              <a:spcBef>
                <a:spcPts val="0"/>
              </a:spcBef>
              <a:spcAft>
                <a:spcPts val="0"/>
              </a:spcAft>
              <a:buSzPts val="1500"/>
              <a:buChar char="●"/>
            </a:pPr>
            <a:r>
              <a:rPr lang="en" sz="1500"/>
              <a:t>Structural descriptors are generated for both drugs and metabolic networks.</a:t>
            </a:r>
            <a:endParaRPr sz="1500"/>
          </a:p>
          <a:p>
            <a:pPr marL="457200" lvl="0" indent="-323850" algn="l" rtl="0">
              <a:spcBef>
                <a:spcPts val="0"/>
              </a:spcBef>
              <a:spcAft>
                <a:spcPts val="0"/>
              </a:spcAft>
              <a:buSzPts val="1500"/>
              <a:buChar char="●"/>
            </a:pPr>
            <a:r>
              <a:rPr lang="en" sz="1500"/>
              <a:t>Information Fusion and Perturbation Theory are applied.</a:t>
            </a:r>
            <a:endParaRPr sz="1500"/>
          </a:p>
          <a:p>
            <a:pPr marL="457200" lvl="0" indent="-323850" algn="l" rtl="0">
              <a:spcBef>
                <a:spcPts val="0"/>
              </a:spcBef>
              <a:spcAft>
                <a:spcPts val="0"/>
              </a:spcAft>
              <a:buSzPts val="1500"/>
              <a:buChar char="●"/>
            </a:pPr>
            <a:r>
              <a:rPr lang="en" sz="1500"/>
              <a:t>The final output is an ML-ready integrated dataset.</a:t>
            </a:r>
            <a:endParaRPr sz="1500"/>
          </a:p>
          <a:p>
            <a:pPr marL="0" lvl="0" indent="0" algn="l" rtl="0">
              <a:spcBef>
                <a:spcPts val="1200"/>
              </a:spcBef>
              <a:spcAft>
                <a:spcPts val="1200"/>
              </a:spcAft>
              <a:buNone/>
            </a:pP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31"/>
          <p:cNvPicPr preferRelativeResize="0"/>
          <p:nvPr/>
        </p:nvPicPr>
        <p:blipFill>
          <a:blip r:embed="rId3">
            <a:alphaModFix/>
          </a:blip>
          <a:stretch>
            <a:fillRect/>
          </a:stretch>
        </p:blipFill>
        <p:spPr>
          <a:xfrm>
            <a:off x="152400" y="152400"/>
            <a:ext cx="8477250" cy="4133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2"/>
          <p:cNvSpPr txBox="1">
            <a:spLocks noGrp="1"/>
          </p:cNvSpPr>
          <p:nvPr>
            <p:ph type="title"/>
          </p:nvPr>
        </p:nvSpPr>
        <p:spPr>
          <a:xfrm>
            <a:off x="214100" y="651700"/>
            <a:ext cx="8537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 MACHINE LEARNING MODELS</a:t>
            </a:r>
            <a:endParaRPr dirty="0"/>
          </a:p>
        </p:txBody>
      </p:sp>
      <p:sp>
        <p:nvSpPr>
          <p:cNvPr id="201" name="Google Shape;201;p32"/>
          <p:cNvSpPr txBox="1">
            <a:spLocks noGrp="1"/>
          </p:cNvSpPr>
          <p:nvPr>
            <p:ph type="body" idx="1"/>
          </p:nvPr>
        </p:nvSpPr>
        <p:spPr>
          <a:xfrm>
            <a:off x="137750" y="1364323"/>
            <a:ext cx="8690400" cy="3073500"/>
          </a:xfrm>
          <a:prstGeom prst="rect">
            <a:avLst/>
          </a:prstGeom>
        </p:spPr>
        <p:txBody>
          <a:bodyPr spcFirstLastPara="1" wrap="square" lIns="91425" tIns="91425" rIns="91425" bIns="91425" anchor="t" anchorCtr="0">
            <a:noAutofit/>
          </a:bodyPr>
          <a:lstStyle/>
          <a:p>
            <a:pPr marL="457200" lvl="0" indent="-343058" algn="l" rtl="0">
              <a:lnSpc>
                <a:spcPct val="95000"/>
              </a:lnSpc>
              <a:spcBef>
                <a:spcPts val="0"/>
              </a:spcBef>
              <a:spcAft>
                <a:spcPts val="0"/>
              </a:spcAft>
              <a:buSzPts val="1803"/>
              <a:buChar char="●"/>
            </a:pPr>
            <a:r>
              <a:rPr lang="en" sz="1802" dirty="0"/>
              <a:t>K-Nearest Neighbors (KNN)</a:t>
            </a:r>
            <a:endParaRPr sz="1802" dirty="0"/>
          </a:p>
          <a:p>
            <a:pPr marL="457200" lvl="0" indent="-343058" algn="l" rtl="0">
              <a:lnSpc>
                <a:spcPct val="95000"/>
              </a:lnSpc>
              <a:spcBef>
                <a:spcPts val="0"/>
              </a:spcBef>
              <a:spcAft>
                <a:spcPts val="0"/>
              </a:spcAft>
              <a:buSzPts val="1803"/>
              <a:buChar char="●"/>
            </a:pPr>
            <a:r>
              <a:rPr lang="en-IN" sz="1802" dirty="0"/>
              <a:t>L</a:t>
            </a:r>
            <a:r>
              <a:rPr lang="en" sz="1802" dirty="0"/>
              <a:t>ogistic regression</a:t>
            </a:r>
          </a:p>
        </p:txBody>
      </p:sp>
      <p:pic>
        <p:nvPicPr>
          <p:cNvPr id="3" name="Picture 2">
            <a:extLst>
              <a:ext uri="{FF2B5EF4-FFF2-40B4-BE49-F238E27FC236}">
                <a16:creationId xmlns:a16="http://schemas.microsoft.com/office/drawing/2014/main" id="{7253C949-F8CD-39FF-4CA8-2CDA08593C21}"/>
              </a:ext>
            </a:extLst>
          </p:cNvPr>
          <p:cNvPicPr>
            <a:picLocks noChangeAspect="1"/>
          </p:cNvPicPr>
          <p:nvPr/>
        </p:nvPicPr>
        <p:blipFill>
          <a:blip r:embed="rId3"/>
          <a:stretch>
            <a:fillRect/>
          </a:stretch>
        </p:blipFill>
        <p:spPr>
          <a:xfrm>
            <a:off x="1011382" y="2022765"/>
            <a:ext cx="7172036" cy="307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a:spLocks noGrp="1"/>
          </p:cNvSpPr>
          <p:nvPr>
            <p:ph type="title"/>
          </p:nvPr>
        </p:nvSpPr>
        <p:spPr>
          <a:xfrm>
            <a:off x="335350" y="5203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CONCLUSION</a:t>
            </a:r>
            <a:endParaRPr/>
          </a:p>
        </p:txBody>
      </p:sp>
      <p:sp>
        <p:nvSpPr>
          <p:cNvPr id="213" name="Google Shape;213;p34"/>
          <p:cNvSpPr txBox="1">
            <a:spLocks noGrp="1"/>
          </p:cNvSpPr>
          <p:nvPr>
            <p:ph type="body" idx="1"/>
          </p:nvPr>
        </p:nvSpPr>
        <p:spPr>
          <a:xfrm>
            <a:off x="122150" y="1517575"/>
            <a:ext cx="8761200" cy="33348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 sz="1700"/>
              <a:t>Antibiotic resistance is strongly influenced by bacterial metabolism.</a:t>
            </a:r>
            <a:endParaRPr sz="1700"/>
          </a:p>
          <a:p>
            <a:pPr marL="457200" lvl="0" indent="-336550" algn="l" rtl="0">
              <a:spcBef>
                <a:spcPts val="0"/>
              </a:spcBef>
              <a:spcAft>
                <a:spcPts val="0"/>
              </a:spcAft>
              <a:buSzPts val="1700"/>
              <a:buChar char="●"/>
            </a:pPr>
            <a:r>
              <a:rPr lang="en" sz="1700"/>
              <a:t>Metabolic networks provide a systems-level understanding of drug response.</a:t>
            </a:r>
            <a:endParaRPr sz="1700"/>
          </a:p>
          <a:p>
            <a:pPr marL="457200" lvl="0" indent="-336550" algn="l" rtl="0">
              <a:spcBef>
                <a:spcPts val="0"/>
              </a:spcBef>
              <a:spcAft>
                <a:spcPts val="0"/>
              </a:spcAft>
              <a:buSzPts val="1700"/>
              <a:buChar char="●"/>
            </a:pPr>
            <a:r>
              <a:rPr lang="en" sz="1700"/>
              <a:t>This project translates biological complexity into a structured digital dataset.</a:t>
            </a:r>
            <a:endParaRPr sz="1700"/>
          </a:p>
          <a:p>
            <a:pPr marL="457200" lvl="0" indent="-336550" algn="l" rtl="0">
              <a:spcBef>
                <a:spcPts val="0"/>
              </a:spcBef>
              <a:spcAft>
                <a:spcPts val="0"/>
              </a:spcAft>
              <a:buSzPts val="1700"/>
              <a:buChar char="●"/>
            </a:pPr>
            <a:r>
              <a:rPr lang="en" sz="1700"/>
              <a:t>Dataset construction is a critical foundation for predictive modeling.</a:t>
            </a:r>
            <a:endParaRPr sz="1700"/>
          </a:p>
          <a:p>
            <a:pPr marL="457200" lvl="0" indent="-336550" algn="l" rtl="0">
              <a:spcBef>
                <a:spcPts val="0"/>
              </a:spcBef>
              <a:spcAft>
                <a:spcPts val="0"/>
              </a:spcAft>
              <a:buSzPts val="1700"/>
              <a:buChar char="●"/>
            </a:pPr>
            <a:r>
              <a:rPr lang="en" sz="1700"/>
              <a:t>The work establishes a robust base for future computational analysis.</a:t>
            </a:r>
            <a:endParaRPr sz="1700"/>
          </a:p>
          <a:p>
            <a:pPr marL="457200" lvl="0" indent="0" algn="l" rtl="0">
              <a:spcBef>
                <a:spcPts val="1200"/>
              </a:spcBef>
              <a:spcAft>
                <a:spcPts val="1200"/>
              </a:spcAft>
              <a:buNone/>
            </a:pPr>
            <a:endParaRPr sz="1700"/>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1474</Words>
  <Application>Microsoft Office PowerPoint</Application>
  <PresentationFormat>On-screen Show (16:9)</PresentationFormat>
  <Paragraphs>144</Paragraphs>
  <Slides>22</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Lato</vt:lpstr>
      <vt:lpstr>Raleway</vt:lpstr>
      <vt:lpstr>Streamline</vt:lpstr>
      <vt:lpstr>Machine Learning Study of Antibacterial Drugs vs Bacterial Metabolic Networks</vt:lpstr>
      <vt:lpstr>INTRODUCTION</vt:lpstr>
      <vt:lpstr>LITERATURE REVIEW</vt:lpstr>
      <vt:lpstr>BIOLOGICAL MOTIVATION</vt:lpstr>
      <vt:lpstr>METABOLIC NETWORKS (MN)</vt:lpstr>
      <vt:lpstr>WHY SAME ANTIBIOTIC ACTS DIFFERENTLY</vt:lpstr>
      <vt:lpstr>METABOLIC MUTATIONS &amp; RESISTANCE</vt:lpstr>
      <vt:lpstr>BIOLOGICAL PROBLEM STATEMENT</vt:lpstr>
      <vt:lpstr>WHY COMPUTATIONAL APPROACH IS NEEDED</vt:lpstr>
      <vt:lpstr>DATA SOURCES USED</vt:lpstr>
      <vt:lpstr>DATASET CREATION: ChEMBL DATA</vt:lpstr>
      <vt:lpstr> DATASET CREATION: METABOLIC NETWORK DATA</vt:lpstr>
      <vt:lpstr>DATA FUSION CONCEPT</vt:lpstr>
      <vt:lpstr>INFORMATION FUSION (IF)</vt:lpstr>
      <vt:lpstr> MOLECULAR DESCRIPTORS (DRUG SIDE)</vt:lpstr>
      <vt:lpstr>FORMULA: LINEAR ATOM-BASED INDEX</vt:lpstr>
      <vt:lpstr>PERTURBATION THEORY (PT)</vt:lpstr>
      <vt:lpstr>PERTURBATION FORMULAE</vt:lpstr>
      <vt:lpstr>COMPLETE WORKFLOW (FLOWCHART)</vt:lpstr>
      <vt:lpstr>PowerPoint Presentation</vt:lpstr>
      <vt:lpstr> MACHINE LEARNING MODELS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bhavesh reddy nagi reddy</dc:creator>
  <cp:lastModifiedBy>NAGIREDDY BHAVESH REDDY - [CB.SC.U4AIE24034]</cp:lastModifiedBy>
  <cp:revision>3</cp:revision>
  <dcterms:modified xsi:type="dcterms:W3CDTF">2026-03-03T16:50:10Z</dcterms:modified>
</cp:coreProperties>
</file>